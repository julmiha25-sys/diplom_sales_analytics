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79" r:id="rId3"/>
    <p:sldId id="257" r:id="rId4"/>
    <p:sldId id="258" r:id="rId5"/>
    <p:sldId id="259" r:id="rId6"/>
    <p:sldId id="260" r:id="rId7"/>
    <p:sldId id="261" r:id="rId8"/>
    <p:sldId id="266" r:id="rId9"/>
    <p:sldId id="275" r:id="rId10"/>
    <p:sldId id="267" r:id="rId11"/>
    <p:sldId id="262" r:id="rId12"/>
    <p:sldId id="263" r:id="rId13"/>
    <p:sldId id="264" r:id="rId14"/>
    <p:sldId id="270" r:id="rId15"/>
    <p:sldId id="265" r:id="rId16"/>
    <p:sldId id="268" r:id="rId17"/>
    <p:sldId id="269" r:id="rId18"/>
    <p:sldId id="271" r:id="rId19"/>
    <p:sldId id="272" r:id="rId20"/>
    <p:sldId id="273" r:id="rId21"/>
    <p:sldId id="274" r:id="rId22"/>
    <p:sldId id="276" r:id="rId23"/>
    <p:sldId id="277" r:id="rId24"/>
    <p:sldId id="278" r:id="rId2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Средний стиль 2 — акцент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009" autoAdjust="0"/>
    <p:restoredTop sz="94660"/>
  </p:normalViewPr>
  <p:slideViewPr>
    <p:cSldViewPr snapToGrid="0">
      <p:cViewPr varScale="1">
        <p:scale>
          <a:sx n="77" d="100"/>
          <a:sy n="77" d="100"/>
        </p:scale>
        <p:origin x="48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48A87A34-81AB-432B-8DAE-1953F412C126}" type="datetimeFigureOut">
              <a:rPr lang="en-US" dirty="0"/>
              <a:t>5/3/2026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5/3/2026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5/3/2026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5/3/2026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Панорамная фотография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Заголовок и подпис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Цитата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Карточка имен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Три колонк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5/3/2026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Столбец с тремя рисункам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5/3/2026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adFill flip="none" rotWithShape="1">
              <a:gsLst>
                <a:gs pos="0">
                  <a:schemeClr val="tx2"/>
                </a:gs>
                <a:gs pos="100000">
                  <a:schemeClr val="bg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adFill flip="none" rotWithShape="1">
              <a:gsLst>
                <a:gs pos="0">
                  <a:schemeClr val="tx2">
                    <a:alpha val="80000"/>
                  </a:schemeClr>
                </a:gs>
                <a:gs pos="100000">
                  <a:schemeClr val="bg2">
                    <a:lumMod val="60000"/>
                    <a:lumOff val="40000"/>
                    <a:alpha val="6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A87A34-81AB-432B-8DAE-1953F412C126}" type="datetimeFigureOut">
              <a:rPr lang="en-US" dirty="0"/>
              <a:pPr/>
              <a:t>5/3/2026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22F896-40B5-4ADD-8801-0D06FADFA09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60" r:id="rId10"/>
    <p:sldLayoutId id="2147483661" r:id="rId11"/>
    <p:sldLayoutId id="2147483666" r:id="rId12"/>
    <p:sldLayoutId id="2147483663" r:id="rId13"/>
    <p:sldLayoutId id="2147483667" r:id="rId14"/>
    <p:sldLayoutId id="2147483668" r:id="rId15"/>
    <p:sldLayoutId id="2147483658" r:id="rId16"/>
    <p:sldLayoutId id="2147483659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="" xmlns:a16="http://schemas.microsoft.com/office/drawing/2014/main" id="{66474CCB-FAC8-2251-7C09-72612271F47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lang="ru-RU" dirty="0"/>
              <a:t>Анализ продаж онлайн-маркетплейса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="" xmlns:a16="http://schemas.microsoft.com/office/drawing/2014/main" id="{A1A84B73-3502-E438-AC63-F38A4E4DBDF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ru-RU" dirty="0" smtClean="0"/>
              <a:t>Анализ клиентской базы за </a:t>
            </a:r>
            <a:r>
              <a:rPr lang="ru-RU" dirty="0"/>
              <a:t>2023 год</a:t>
            </a:r>
          </a:p>
        </p:txBody>
      </p:sp>
    </p:spTree>
    <p:extLst>
      <p:ext uri="{BB962C8B-B14F-4D97-AF65-F5344CB8AC3E}">
        <p14:creationId xmlns:p14="http://schemas.microsoft.com/office/powerpoint/2010/main" val="5112246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="" xmlns:a16="http://schemas.microsoft.com/office/drawing/2014/main" id="{3C792A5A-C2DD-FA6E-B94A-61FEBB0A38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70829"/>
            <a:ext cx="9905998" cy="1478570"/>
          </a:xfrm>
        </p:spPr>
        <p:txBody>
          <a:bodyPr>
            <a:normAutofit/>
          </a:bodyPr>
          <a:lstStyle/>
          <a:p>
            <a:pPr algn="ctr"/>
            <a:r>
              <a:rPr lang="ru-RU" dirty="0"/>
              <a:t>Анализ </a:t>
            </a:r>
            <a:r>
              <a:rPr lang="ru-RU" dirty="0"/>
              <a:t>клиентской базы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="" xmlns:a16="http://schemas.microsoft.com/office/drawing/2014/main" id="{5DCFA8C6-8059-6DDE-BBE7-BD9C72B627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1208087"/>
            <a:ext cx="9905999" cy="391505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dirty="0" smtClean="0"/>
              <a:t>Это </a:t>
            </a:r>
            <a:r>
              <a:rPr lang="ru-RU" dirty="0"/>
              <a:t>систематическое изучение </a:t>
            </a:r>
            <a:r>
              <a:rPr lang="ru-RU" dirty="0" smtClean="0"/>
              <a:t>клиентов </a:t>
            </a:r>
            <a:r>
              <a:rPr lang="ru-RU" dirty="0"/>
              <a:t>по разным срезам:</a:t>
            </a:r>
          </a:p>
          <a:p>
            <a:r>
              <a:rPr lang="ru-RU" b="1" dirty="0"/>
              <a:t>Кто они</a:t>
            </a:r>
            <a:r>
              <a:rPr lang="ru-RU" dirty="0"/>
              <a:t> (пол, возраст, география</a:t>
            </a:r>
            <a:r>
              <a:rPr lang="ru-RU" dirty="0" smtClean="0"/>
              <a:t>)?</a:t>
            </a:r>
            <a:endParaRPr lang="ru-RU" dirty="0"/>
          </a:p>
          <a:p>
            <a:r>
              <a:rPr lang="ru-RU" b="1" dirty="0"/>
              <a:t>Как покупают</a:t>
            </a:r>
            <a:r>
              <a:rPr lang="ru-RU" dirty="0"/>
              <a:t> (частота, суммы, категории товаров</a:t>
            </a:r>
            <a:r>
              <a:rPr lang="ru-RU" dirty="0" smtClean="0"/>
              <a:t>)?</a:t>
            </a:r>
            <a:endParaRPr lang="ru-RU" dirty="0"/>
          </a:p>
          <a:p>
            <a:r>
              <a:rPr lang="ru-RU" b="1" dirty="0"/>
              <a:t>Когда уходят</a:t>
            </a:r>
            <a:r>
              <a:rPr lang="ru-RU" dirty="0"/>
              <a:t> (отток, давность последней покупки</a:t>
            </a:r>
            <a:r>
              <a:rPr lang="ru-RU" dirty="0" smtClean="0"/>
              <a:t>)?</a:t>
            </a:r>
            <a:endParaRPr lang="ru-RU" dirty="0"/>
          </a:p>
          <a:p>
            <a:r>
              <a:rPr lang="ru-RU" b="1" dirty="0"/>
              <a:t>Сколько приносят</a:t>
            </a:r>
            <a:r>
              <a:rPr lang="ru-RU" dirty="0"/>
              <a:t> (LTV, средний чек</a:t>
            </a:r>
            <a:r>
              <a:rPr lang="ru-RU" dirty="0" smtClean="0"/>
              <a:t>)?</a:t>
            </a:r>
            <a:endParaRPr lang="ru-RU" dirty="0"/>
          </a:p>
          <a:p>
            <a:pPr marL="0" indent="0" algn="just">
              <a:buNone/>
            </a:pPr>
            <a:r>
              <a:rPr lang="ru-RU" dirty="0" smtClean="0"/>
              <a:t>Цель анализа  </a:t>
            </a:r>
            <a:r>
              <a:rPr lang="ru-RU" dirty="0"/>
              <a:t>— </a:t>
            </a:r>
            <a:r>
              <a:rPr lang="ru-RU" b="1" dirty="0"/>
              <a:t>перестать работать со всеми одинаково</a:t>
            </a:r>
            <a:r>
              <a:rPr lang="ru-RU" dirty="0"/>
              <a:t> и начать инвестировать туда, где максимальная отдача.</a:t>
            </a:r>
          </a:p>
          <a:p>
            <a:pPr marL="0" indent="0" algn="just">
              <a:buNone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5135058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="" xmlns:a16="http://schemas.microsoft.com/office/drawing/2014/main" id="{3C792A5A-C2DD-FA6E-B94A-61FEBB0A38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70829"/>
            <a:ext cx="9905998" cy="1478570"/>
          </a:xfrm>
        </p:spPr>
        <p:txBody>
          <a:bodyPr/>
          <a:lstStyle/>
          <a:p>
            <a:pPr algn="ctr"/>
            <a:r>
              <a:rPr lang="en-US" dirty="0"/>
              <a:t>RFM</a:t>
            </a:r>
            <a:r>
              <a:rPr lang="ru-RU" dirty="0"/>
              <a:t>-анализ клиентов</a:t>
            </a:r>
            <a:r>
              <a:rPr lang="ru-RU" dirty="0" smtClean="0"/>
              <a:t> 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="" xmlns:a16="http://schemas.microsoft.com/office/drawing/2014/main" id="{5DCFA8C6-8059-6DDE-BBE7-BD9C72B627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1208087"/>
            <a:ext cx="9905999" cy="3915058"/>
          </a:xfrm>
        </p:spPr>
        <p:txBody>
          <a:bodyPr>
            <a:normAutofit fontScale="92500"/>
          </a:bodyPr>
          <a:lstStyle/>
          <a:p>
            <a:pPr marL="0" indent="0" algn="just">
              <a:buNone/>
            </a:pPr>
            <a:r>
              <a:rPr lang="en-US" dirty="0" smtClean="0"/>
              <a:t>RFM-</a:t>
            </a:r>
            <a:r>
              <a:rPr lang="ru-RU" dirty="0" smtClean="0"/>
              <a:t>анализ </a:t>
            </a:r>
            <a:r>
              <a:rPr lang="ru-RU" dirty="0" smtClean="0"/>
              <a:t>клиентов </a:t>
            </a:r>
            <a:r>
              <a:rPr lang="ru-RU" dirty="0"/>
              <a:t>— </a:t>
            </a:r>
            <a:r>
              <a:rPr lang="ru-RU" dirty="0" smtClean="0"/>
              <a:t>это </a:t>
            </a:r>
            <a:r>
              <a:rPr lang="ru-RU" dirty="0"/>
              <a:t>метод сегментации клиентов, который помогает понять, кто из </a:t>
            </a:r>
            <a:r>
              <a:rPr lang="ru-RU" dirty="0" smtClean="0"/>
              <a:t>клиентов </a:t>
            </a:r>
            <a:r>
              <a:rPr lang="ru-RU" dirty="0"/>
              <a:t>самый ценный, а кто «спит» или ушёл</a:t>
            </a:r>
            <a:r>
              <a:rPr lang="ru-RU" dirty="0" smtClean="0"/>
              <a:t>.</a:t>
            </a:r>
          </a:p>
          <a:p>
            <a:pPr marL="0" indent="0" algn="just">
              <a:buNone/>
            </a:pPr>
            <a:r>
              <a:rPr lang="ru-RU" dirty="0" smtClean="0"/>
              <a:t>Метрики анализа:</a:t>
            </a:r>
          </a:p>
          <a:p>
            <a:r>
              <a:rPr lang="ru-RU" b="1" dirty="0"/>
              <a:t>R (</a:t>
            </a:r>
            <a:r>
              <a:rPr lang="ru-RU" b="1" dirty="0" err="1"/>
              <a:t>Recency</a:t>
            </a:r>
            <a:r>
              <a:rPr lang="ru-RU" b="1" dirty="0"/>
              <a:t>)</a:t>
            </a:r>
            <a:r>
              <a:rPr lang="ru-RU" dirty="0"/>
              <a:t> — </a:t>
            </a:r>
            <a:r>
              <a:rPr lang="ru-RU" dirty="0" smtClean="0"/>
              <a:t>д</a:t>
            </a:r>
            <a:r>
              <a:rPr lang="ru-RU" b="1" dirty="0" smtClean="0"/>
              <a:t>авность</a:t>
            </a:r>
            <a:r>
              <a:rPr lang="ru-RU" dirty="0"/>
              <a:t>: как давно клиент совершил последнюю покупку.</a:t>
            </a:r>
          </a:p>
          <a:p>
            <a:r>
              <a:rPr lang="ru-RU" b="1" dirty="0"/>
              <a:t>F (</a:t>
            </a:r>
            <a:r>
              <a:rPr lang="ru-RU" b="1" dirty="0" err="1"/>
              <a:t>Frequency</a:t>
            </a:r>
            <a:r>
              <a:rPr lang="ru-RU" b="1" dirty="0"/>
              <a:t>)</a:t>
            </a:r>
            <a:r>
              <a:rPr lang="ru-RU" dirty="0"/>
              <a:t> — </a:t>
            </a:r>
            <a:r>
              <a:rPr lang="ru-RU" dirty="0"/>
              <a:t>ч</a:t>
            </a:r>
            <a:r>
              <a:rPr lang="ru-RU" b="1" dirty="0" smtClean="0"/>
              <a:t>астота</a:t>
            </a:r>
            <a:r>
              <a:rPr lang="ru-RU" dirty="0"/>
              <a:t>: как много покупок клиент совершил за период.</a:t>
            </a:r>
          </a:p>
          <a:p>
            <a:r>
              <a:rPr lang="ru-RU" b="1" dirty="0"/>
              <a:t>M (</a:t>
            </a:r>
            <a:r>
              <a:rPr lang="ru-RU" b="1" dirty="0" err="1"/>
              <a:t>Monetary</a:t>
            </a:r>
            <a:r>
              <a:rPr lang="ru-RU" b="1" dirty="0"/>
              <a:t>)</a:t>
            </a:r>
            <a:r>
              <a:rPr lang="ru-RU" dirty="0"/>
              <a:t> — </a:t>
            </a:r>
            <a:r>
              <a:rPr lang="ru-RU" b="1" dirty="0"/>
              <a:t>д</a:t>
            </a:r>
            <a:r>
              <a:rPr lang="ru-RU" b="1" dirty="0" smtClean="0"/>
              <a:t>еньги</a:t>
            </a:r>
            <a:r>
              <a:rPr lang="ru-RU" dirty="0"/>
              <a:t>: сколько всего денег клиент потратил.</a:t>
            </a:r>
          </a:p>
          <a:p>
            <a:pPr marL="0" indent="0" algn="just">
              <a:buNone/>
            </a:pPr>
            <a:r>
              <a:rPr lang="ru-RU" dirty="0"/>
              <a:t>Цель анализа – сегментация клиентской базы по метрикам и группам оценок.</a:t>
            </a:r>
          </a:p>
          <a:p>
            <a:pPr marL="0" indent="0" algn="just">
              <a:buNone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8169542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028677" y="420686"/>
            <a:ext cx="9905999" cy="2760924"/>
          </a:xfrm>
        </p:spPr>
        <p:txBody>
          <a:bodyPr>
            <a:normAutofit lnSpcReduction="10000"/>
          </a:bodyPr>
          <a:lstStyle/>
          <a:p>
            <a:pPr marL="0" indent="0" algn="just">
              <a:buNone/>
            </a:pPr>
            <a:r>
              <a:rPr lang="ru-RU" dirty="0"/>
              <a:t>График </a:t>
            </a:r>
            <a:r>
              <a:rPr lang="ru-RU" dirty="0" err="1"/>
              <a:t>Recency</a:t>
            </a:r>
            <a:r>
              <a:rPr lang="ru-RU" dirty="0"/>
              <a:t> </a:t>
            </a:r>
            <a:r>
              <a:rPr lang="ru-RU" dirty="0" smtClean="0"/>
              <a:t>показывает </a:t>
            </a:r>
            <a:r>
              <a:rPr lang="ru-RU" dirty="0"/>
              <a:t>распределение пользователей по  количеству дней с момента последней покупки. </a:t>
            </a:r>
            <a:endParaRPr lang="ru-RU" dirty="0" smtClean="0"/>
          </a:p>
          <a:p>
            <a:pPr marL="0" indent="0" algn="just">
              <a:buNone/>
            </a:pPr>
            <a:r>
              <a:rPr lang="ru-RU" dirty="0" smtClean="0"/>
              <a:t>При </a:t>
            </a:r>
            <a:r>
              <a:rPr lang="ru-RU" dirty="0"/>
              <a:t>разделении графика </a:t>
            </a:r>
            <a:r>
              <a:rPr lang="en-US" dirty="0" err="1"/>
              <a:t>Recency</a:t>
            </a:r>
            <a:r>
              <a:rPr lang="en-US" dirty="0"/>
              <a:t> </a:t>
            </a:r>
            <a:r>
              <a:rPr lang="ru-RU" dirty="0"/>
              <a:t>на группы использовался метод </a:t>
            </a:r>
            <a:r>
              <a:rPr lang="ru-RU" dirty="0" err="1"/>
              <a:t>тертильной</a:t>
            </a:r>
            <a:r>
              <a:rPr lang="ru-RU" dirty="0"/>
              <a:t> сегментации (33-й и 66-й перцентили).</a:t>
            </a:r>
          </a:p>
          <a:p>
            <a:pPr marL="0" indent="0" algn="just">
              <a:buNone/>
            </a:pPr>
            <a:r>
              <a:rPr lang="ru-RU" dirty="0" smtClean="0"/>
              <a:t>Плавный </a:t>
            </a:r>
            <a:r>
              <a:rPr lang="ru-RU" dirty="0"/>
              <a:t>спад от 1 до 361 дня без резких скачков говорит о том, что клиенты уходят постепенно</a:t>
            </a:r>
            <a:r>
              <a:rPr lang="ru-RU" dirty="0" smtClean="0"/>
              <a:t>.</a:t>
            </a:r>
          </a:p>
          <a:p>
            <a:pPr marL="0" indent="0" algn="just">
              <a:buNone/>
            </a:pPr>
            <a:endParaRPr lang="ru-RU" dirty="0"/>
          </a:p>
          <a:p>
            <a:endParaRPr lang="ru-RU" dirty="0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6063" y="3181610"/>
            <a:ext cx="7746173" cy="33627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58437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141411" y="383108"/>
            <a:ext cx="9905999" cy="3023971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ru-RU" dirty="0"/>
              <a:t>График </a:t>
            </a:r>
            <a:r>
              <a:rPr lang="ru-RU" dirty="0" err="1" smtClean="0"/>
              <a:t>Frequency</a:t>
            </a:r>
            <a:r>
              <a:rPr lang="ru-RU" dirty="0" smtClean="0"/>
              <a:t> показывает </a:t>
            </a:r>
            <a:r>
              <a:rPr lang="ru-RU" dirty="0"/>
              <a:t>распределение пользователей по  количеству покупок.  Большинство клиентов делают 1-2 покупки. </a:t>
            </a:r>
            <a:endParaRPr lang="ru-RU" dirty="0" smtClean="0"/>
          </a:p>
          <a:p>
            <a:pPr marL="0" indent="0" algn="just">
              <a:buNone/>
            </a:pPr>
            <a:r>
              <a:rPr lang="ru-RU" dirty="0" smtClean="0"/>
              <a:t>При </a:t>
            </a:r>
            <a:r>
              <a:rPr lang="ru-RU" dirty="0"/>
              <a:t>разделении графика </a:t>
            </a:r>
            <a:r>
              <a:rPr lang="en-US" dirty="0" err="1"/>
              <a:t>Recency</a:t>
            </a:r>
            <a:r>
              <a:rPr lang="en-US" dirty="0"/>
              <a:t> </a:t>
            </a:r>
            <a:r>
              <a:rPr lang="ru-RU" dirty="0"/>
              <a:t>на группы использовался метод </a:t>
            </a:r>
            <a:r>
              <a:rPr lang="ru-RU" dirty="0" err="1"/>
              <a:t>тертильной</a:t>
            </a:r>
            <a:r>
              <a:rPr lang="ru-RU" dirty="0"/>
              <a:t> сегментации (33-й и 66-й перцентили).</a:t>
            </a:r>
          </a:p>
          <a:p>
            <a:pPr marL="0" indent="0" algn="just">
              <a:buNone/>
            </a:pPr>
            <a:r>
              <a:rPr lang="ru-RU" dirty="0" smtClean="0"/>
              <a:t>Для </a:t>
            </a:r>
            <a:r>
              <a:rPr lang="ru-RU" dirty="0"/>
              <a:t>повышения частоты покупок рекомендуется фокусироваться на переходе клиентов из группы с </a:t>
            </a:r>
            <a:r>
              <a:rPr lang="ru-RU" dirty="0" smtClean="0"/>
              <a:t>2-я </a:t>
            </a:r>
            <a:r>
              <a:rPr lang="ru-RU" dirty="0"/>
              <a:t>покупками в группу с 3-я покупками.</a:t>
            </a:r>
          </a:p>
          <a:p>
            <a:pPr marL="0" indent="0" algn="just">
              <a:buNone/>
            </a:pPr>
            <a:endParaRPr lang="ru-RU" dirty="0"/>
          </a:p>
          <a:p>
            <a:endParaRPr lang="ru-RU" dirty="0"/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3872" y="3544865"/>
            <a:ext cx="5430555" cy="29436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74965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016151" y="200416"/>
            <a:ext cx="10361070" cy="4396636"/>
          </a:xfrm>
        </p:spPr>
        <p:txBody>
          <a:bodyPr>
            <a:normAutofit fontScale="92500" lnSpcReduction="10000"/>
          </a:bodyPr>
          <a:lstStyle/>
          <a:p>
            <a:pPr marL="0" lvl="0" indent="0" algn="just">
              <a:buNone/>
            </a:pPr>
            <a:r>
              <a:rPr lang="ru-RU" dirty="0" smtClean="0"/>
              <a:t>График </a:t>
            </a:r>
            <a:r>
              <a:rPr lang="ru-RU" dirty="0" err="1" smtClean="0"/>
              <a:t>Monetary</a:t>
            </a:r>
            <a:r>
              <a:rPr lang="ru-RU" dirty="0" smtClean="0"/>
              <a:t> показывает </a:t>
            </a:r>
            <a:r>
              <a:rPr lang="ru-RU" dirty="0"/>
              <a:t>распределение пользователей по  общей сумме </a:t>
            </a:r>
            <a:r>
              <a:rPr lang="ru-RU" dirty="0" smtClean="0"/>
              <a:t>покупок.</a:t>
            </a:r>
          </a:p>
          <a:p>
            <a:pPr marL="0" indent="0" algn="just">
              <a:buNone/>
            </a:pPr>
            <a:r>
              <a:rPr lang="ru-RU" dirty="0"/>
              <a:t>При разделении графика </a:t>
            </a:r>
            <a:r>
              <a:rPr lang="en-US" dirty="0" err="1"/>
              <a:t>Recency</a:t>
            </a:r>
            <a:r>
              <a:rPr lang="en-US" dirty="0"/>
              <a:t> </a:t>
            </a:r>
            <a:r>
              <a:rPr lang="ru-RU" dirty="0"/>
              <a:t>на группы использовался метод </a:t>
            </a:r>
            <a:r>
              <a:rPr lang="ru-RU" dirty="0" err="1"/>
              <a:t>тертильной</a:t>
            </a:r>
            <a:r>
              <a:rPr lang="ru-RU" dirty="0"/>
              <a:t> сегментации (33-й и 66-й перцентили) и </a:t>
            </a:r>
            <a:r>
              <a:rPr lang="ru-RU" dirty="0" err="1"/>
              <a:t>биннинг</a:t>
            </a:r>
            <a:r>
              <a:rPr lang="ru-RU" dirty="0"/>
              <a:t> с шагом 50 тыс. руб.</a:t>
            </a:r>
          </a:p>
          <a:p>
            <a:pPr marL="0" lvl="0" indent="0" algn="just">
              <a:buNone/>
            </a:pPr>
            <a:r>
              <a:rPr lang="ru-RU" dirty="0" smtClean="0"/>
              <a:t>Пик</a:t>
            </a:r>
            <a:r>
              <a:rPr lang="ru-RU" dirty="0"/>
              <a:t> в самом левом диапазоне (маленькие чеки), длинный хвост вправо (очень мало крупных клиентов), асимметрия - большинство тратит мало, редкие – много.</a:t>
            </a:r>
          </a:p>
          <a:p>
            <a:pPr marL="0" indent="0" algn="just">
              <a:buNone/>
            </a:pPr>
            <a:r>
              <a:rPr lang="ru-RU" dirty="0"/>
              <a:t>Для роста выручки рекомендуется: подтягивать клиентов из левой части распределения вправо,  удерживать крупных клиентов из правого хвоста (программа лояльности, персональный менеджер), привлекать новых клиентов, способных тратить выше среднего</a:t>
            </a:r>
            <a:r>
              <a:rPr lang="ru-RU" dirty="0" smtClean="0"/>
              <a:t>.</a:t>
            </a:r>
            <a:endParaRPr lang="ru-RU" dirty="0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9448" y="4384110"/>
            <a:ext cx="9134475" cy="23672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11814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52835" y="626301"/>
            <a:ext cx="10361070" cy="1365337"/>
          </a:xfrm>
        </p:spPr>
        <p:txBody>
          <a:bodyPr>
            <a:normAutofit/>
          </a:bodyPr>
          <a:lstStyle/>
          <a:p>
            <a:pPr marL="0" lvl="0" indent="0" algn="just">
              <a:buNone/>
            </a:pPr>
            <a:r>
              <a:rPr lang="ru-RU" dirty="0" smtClean="0"/>
              <a:t>В таблице RFM-анализа дополнительно рассчитывается </a:t>
            </a:r>
            <a:r>
              <a:rPr lang="ru-RU" dirty="0"/>
              <a:t>LTV клиента за все время. </a:t>
            </a:r>
            <a:r>
              <a:rPr lang="ru-RU" dirty="0" smtClean="0"/>
              <a:t>Здесь можно проанализировать каждого клиента.</a:t>
            </a:r>
            <a:endParaRPr lang="ru-RU" dirty="0"/>
          </a:p>
          <a:p>
            <a:pPr marL="0" lvl="0" indent="0" algn="just">
              <a:buNone/>
            </a:pPr>
            <a:endParaRPr lang="ru-RU" dirty="0" smtClean="0"/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045" y="1991638"/>
            <a:ext cx="9772650" cy="3552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75368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701458" y="150313"/>
            <a:ext cx="10960273" cy="6551112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ru-RU" dirty="0" smtClean="0"/>
              <a:t>Основные </a:t>
            </a:r>
            <a:r>
              <a:rPr lang="ru-RU" dirty="0"/>
              <a:t>гипотезы при анализе клиентской базы </a:t>
            </a:r>
            <a:r>
              <a:rPr lang="ru-RU" b="1" dirty="0"/>
              <a:t>онлайн-</a:t>
            </a:r>
            <a:r>
              <a:rPr lang="ru-RU" b="1" dirty="0" err="1"/>
              <a:t>маркетплейса</a:t>
            </a:r>
            <a:r>
              <a:rPr lang="ru-RU" dirty="0"/>
              <a:t>:</a:t>
            </a:r>
          </a:p>
          <a:p>
            <a:pPr lvl="0" algn="just"/>
            <a:r>
              <a:rPr lang="ru-RU" dirty="0"/>
              <a:t>В клиентской базе существуют как лояльные клиенты, так и «разовые». Поэтому клиентская база </a:t>
            </a:r>
            <a:r>
              <a:rPr lang="ru-RU" dirty="0" smtClean="0"/>
              <a:t>нуждается </a:t>
            </a:r>
            <a:r>
              <a:rPr lang="ru-RU" dirty="0"/>
              <a:t>в сегментации для разработки </a:t>
            </a:r>
            <a:r>
              <a:rPr lang="ru-RU" dirty="0" err="1"/>
              <a:t>таргетированных</a:t>
            </a:r>
            <a:r>
              <a:rPr lang="ru-RU" dirty="0"/>
              <a:t> сценариев взаимодействия с каждой группой.</a:t>
            </a:r>
          </a:p>
          <a:p>
            <a:pPr lvl="0" algn="just"/>
            <a:r>
              <a:rPr lang="ru-RU" dirty="0"/>
              <a:t>Определение списка ключевых клиентов, приносящих </a:t>
            </a:r>
            <a:r>
              <a:rPr lang="ru-RU" dirty="0" smtClean="0"/>
              <a:t>большую </a:t>
            </a:r>
            <a:r>
              <a:rPr lang="ru-RU" dirty="0"/>
              <a:t>часть прибыли, необходимо для активного развития и вовлечения их в дальнейшее взаимодействие, для максимального удержания. Здесь имеет смысл стимулировать клиентов нематериальными бонусами: приглашать на мероприятия, бесплатно присылать полезные экспертные материалы.</a:t>
            </a:r>
          </a:p>
          <a:p>
            <a:pPr lvl="0" algn="just"/>
            <a:r>
              <a:rPr lang="ru-RU" dirty="0"/>
              <a:t>Определение списка «спящих» клиентов, совершивших покупки в прошлом, но не проявляющих активности в течение некоторого интервала времени, необходимо для их «активации». Здесь целесообразно предложить более дорогие продукты, а частоту рассылок можно увеличить, порекомендовать популярные товары, действующие акции и </a:t>
            </a:r>
            <a:r>
              <a:rPr lang="ru-RU" dirty="0" err="1"/>
              <a:t>промокоды</a:t>
            </a:r>
            <a:r>
              <a:rPr lang="ru-RU" dirty="0" smtClean="0"/>
              <a:t>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5205172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739036" y="663880"/>
            <a:ext cx="10960273" cy="5411243"/>
          </a:xfrm>
        </p:spPr>
        <p:txBody>
          <a:bodyPr>
            <a:noAutofit/>
          </a:bodyPr>
          <a:lstStyle/>
          <a:p>
            <a:pPr lvl="0" algn="just"/>
            <a:r>
              <a:rPr lang="ru-RU" dirty="0" smtClean="0"/>
              <a:t>Определение </a:t>
            </a:r>
            <a:r>
              <a:rPr lang="ru-RU" dirty="0"/>
              <a:t>списка клиентов, совершавших редко крупные покупки, необходимо для их мотивации. Здесь можно ограничиваемся стандартными рассылками или звонками.</a:t>
            </a:r>
          </a:p>
          <a:p>
            <a:pPr lvl="0" algn="just"/>
            <a:r>
              <a:rPr lang="ru-RU" dirty="0"/>
              <a:t>Определение списка бесперспективных клиентов, совершавших давно и нечасто небольшие покупки, необходимо для того, чтобы не тратить на них большого количества ресурсов. Здесь целесообразно </a:t>
            </a:r>
            <a:r>
              <a:rPr lang="ru-RU" dirty="0" smtClean="0"/>
              <a:t>использовать </a:t>
            </a:r>
            <a:r>
              <a:rPr lang="ru-RU" dirty="0"/>
              <a:t>низкобюджетные попытки активировать их с помощью бонусных баллов, </a:t>
            </a:r>
            <a:r>
              <a:rPr lang="ru-RU" dirty="0" err="1"/>
              <a:t>промокодов</a:t>
            </a:r>
            <a:r>
              <a:rPr lang="ru-RU" dirty="0"/>
              <a:t> или акций.</a:t>
            </a:r>
          </a:p>
          <a:p>
            <a:pPr lvl="0" algn="just"/>
            <a:r>
              <a:rPr lang="ru-RU" dirty="0"/>
              <a:t>Определение списка клиентов промежуточных категорий также позволит выявить стратегии для работы с ними (акция, звонок, опрос, рассылка и прочее</a:t>
            </a:r>
            <a:r>
              <a:rPr lang="ru-RU" dirty="0" smtClean="0"/>
              <a:t>).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53652839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Таблица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9446284"/>
              </p:ext>
            </p:extLst>
          </p:nvPr>
        </p:nvGraphicFramePr>
        <p:xfrm>
          <a:off x="1334139" y="375774"/>
          <a:ext cx="9814025" cy="6200382"/>
        </p:xfrm>
        <a:graphic>
          <a:graphicData uri="http://schemas.openxmlformats.org/drawingml/2006/table">
            <a:tbl>
              <a:tblPr firstRow="1" firstCol="1" bandRow="1">
                <a:tableStyleId>{7DF18680-E054-41AD-8BC1-D1AEF772440D}</a:tableStyleId>
              </a:tblPr>
              <a:tblGrid>
                <a:gridCol w="660777"/>
                <a:gridCol w="9153248"/>
              </a:tblGrid>
              <a:tr h="326336">
                <a:tc gridSpan="2"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ru-RU" sz="1600" dirty="0">
                          <a:effectLst/>
                        </a:rPr>
                        <a:t>Постоянные клиенты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</a:tr>
              <a:tr h="65267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ru-RU" sz="1100">
                          <a:effectLst/>
                        </a:rPr>
                        <a:t>111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ru-RU" sz="1600" dirty="0">
                          <a:effectLst/>
                        </a:rPr>
                        <a:t>стимулировать нематериальными бонусами: приглашать на мероприятия, бесплатно присылать полезные экспертные материалы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</a:tr>
              <a:tr h="326336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ru-RU" sz="1100">
                          <a:effectLst/>
                        </a:rPr>
                        <a:t>112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ru-RU" sz="1600" dirty="0">
                          <a:effectLst/>
                        </a:rPr>
                        <a:t>не нагружать рассылками и звонками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</a:tr>
              <a:tr h="326336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ru-RU" sz="1100">
                          <a:effectLst/>
                        </a:rPr>
                        <a:t>113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ru-RU" sz="1600" dirty="0">
                          <a:effectLst/>
                        </a:rPr>
                        <a:t>предлагать более дорогие товары из ассортимента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</a:tr>
              <a:tr h="326336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ru-RU" sz="1100">
                          <a:effectLst/>
                        </a:rPr>
                        <a:t>121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ru-RU" sz="1600" dirty="0">
                          <a:effectLst/>
                        </a:rPr>
                        <a:t>стандартные рассылки или звонки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</a:tr>
              <a:tr h="326336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ru-RU" sz="1100">
                          <a:effectLst/>
                        </a:rPr>
                        <a:t>122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ru-RU" sz="1600" dirty="0">
                          <a:effectLst/>
                        </a:rPr>
                        <a:t>предлагать более дорогие товары из ассортимента, увеличить частоту рассылок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</a:tr>
              <a:tr h="326336">
                <a:tc gridSpan="2"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ru-RU" sz="1600" dirty="0">
                          <a:effectLst/>
                        </a:rPr>
                        <a:t>Новые клиенты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</a:tr>
              <a:tr h="326336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ru-RU" sz="1100">
                          <a:effectLst/>
                        </a:rPr>
                        <a:t>131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ru-RU" sz="1600" dirty="0">
                          <a:effectLst/>
                        </a:rPr>
                        <a:t>предлагать акцию или скидку на следующую покупку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</a:tr>
              <a:tr h="326336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ru-RU" sz="1100">
                          <a:effectLst/>
                        </a:rPr>
                        <a:t>132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ru-RU" sz="1600" dirty="0">
                          <a:effectLst/>
                        </a:rPr>
                        <a:t>пригласить подписаться на рассылку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</a:tr>
              <a:tr h="326336">
                <a:tc gridSpan="2"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ru-RU" sz="1600" dirty="0">
                          <a:effectLst/>
                        </a:rPr>
                        <a:t>Неактивные клиенты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</a:tr>
              <a:tr h="326336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ru-RU" sz="1100">
                          <a:effectLst/>
                        </a:rPr>
                        <a:t>211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ru-RU" sz="1600" dirty="0">
                          <a:effectLst/>
                        </a:rPr>
                        <a:t>сделать звонок-опрос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</a:tr>
              <a:tr h="326336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ru-RU" sz="1100">
                          <a:effectLst/>
                        </a:rPr>
                        <a:t>212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ru-RU" sz="1600" dirty="0">
                          <a:effectLst/>
                        </a:rPr>
                        <a:t>сделать звонок, рассылку, предложить акцию или скидка с ограниченным сроком действия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</a:tr>
              <a:tr h="326336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ru-RU" sz="1100">
                          <a:effectLst/>
                        </a:rPr>
                        <a:t>221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ru-RU" sz="1600" dirty="0">
                          <a:effectLst/>
                        </a:rPr>
                        <a:t>сделать звонок-опрос, порекомендовать популярные товары, предложить акцию или </a:t>
                      </a:r>
                      <a:r>
                        <a:rPr lang="ru-RU" sz="1600" dirty="0" err="1">
                          <a:effectLst/>
                        </a:rPr>
                        <a:t>промокод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</a:tr>
              <a:tr h="326336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ru-RU" sz="1100">
                          <a:effectLst/>
                        </a:rPr>
                        <a:t>231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ru-RU" sz="1600" dirty="0">
                          <a:effectLst/>
                        </a:rPr>
                        <a:t>прислать бонусные баллы, </a:t>
                      </a:r>
                      <a:r>
                        <a:rPr lang="ru-RU" sz="1600" dirty="0" err="1">
                          <a:effectLst/>
                        </a:rPr>
                        <a:t>промокод</a:t>
                      </a:r>
                      <a:r>
                        <a:rPr lang="ru-RU" sz="1600" dirty="0">
                          <a:effectLst/>
                        </a:rPr>
                        <a:t> или сообщить о проходящей акции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</a:tr>
              <a:tr h="326336">
                <a:tc gridSpan="2"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ru-RU" sz="1600" dirty="0">
                          <a:effectLst/>
                        </a:rPr>
                        <a:t>Уходящие клиенты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</a:tr>
              <a:tr h="326336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ru-RU" sz="1100">
                          <a:effectLst/>
                        </a:rPr>
                        <a:t>311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ru-RU" sz="1600" dirty="0">
                          <a:effectLst/>
                        </a:rPr>
                        <a:t>сделать звонок-опрос или письмо-опрос, предложить акцию или скидку на товар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</a:tr>
              <a:tr h="326336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ru-RU" sz="1100">
                          <a:effectLst/>
                        </a:rPr>
                        <a:t>321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ru-RU" sz="1600" dirty="0">
                          <a:effectLst/>
                        </a:rPr>
                        <a:t>сделать звонок-опрос или письмо-опрос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</a:tr>
              <a:tr h="326336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ru-RU" sz="1100">
                          <a:effectLst/>
                        </a:rPr>
                        <a:t>331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ru-RU" sz="1600" dirty="0">
                          <a:effectLst/>
                        </a:rPr>
                        <a:t>прислать бонусные баллы, </a:t>
                      </a:r>
                      <a:r>
                        <a:rPr lang="ru-RU" sz="1600" dirty="0" err="1">
                          <a:effectLst/>
                        </a:rPr>
                        <a:t>промокод</a:t>
                      </a:r>
                      <a:r>
                        <a:rPr lang="ru-RU" sz="1600" dirty="0">
                          <a:effectLst/>
                        </a:rPr>
                        <a:t> или сообщить о проходящей акции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9475360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53044" y="576197"/>
            <a:ext cx="10361070" cy="3720230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ru-RU" dirty="0" smtClean="0"/>
              <a:t>По таблице RFM-анализа можно получить дополнительную информацию: </a:t>
            </a:r>
          </a:p>
          <a:p>
            <a:pPr algn="just"/>
            <a:r>
              <a:rPr lang="ru-RU" dirty="0" smtClean="0"/>
              <a:t>Активные </a:t>
            </a:r>
            <a:r>
              <a:rPr lang="ru-RU" dirty="0"/>
              <a:t>клиенты </a:t>
            </a:r>
            <a:r>
              <a:rPr lang="en-US" dirty="0"/>
              <a:t>R</a:t>
            </a:r>
            <a:r>
              <a:rPr lang="ru-RU" dirty="0"/>
              <a:t>1 (недавно покупающие) составляют 32,2% от общей массы клиентов за 2023 год, что в целом неплохо. На </a:t>
            </a:r>
            <a:r>
              <a:rPr lang="ru-RU" dirty="0" smtClean="0"/>
              <a:t>карточке указана </a:t>
            </a:r>
            <a:r>
              <a:rPr lang="ru-RU" dirty="0"/>
              <a:t>цель – достигнуть показателя в 50%. </a:t>
            </a:r>
            <a:endParaRPr lang="ru-RU" dirty="0" smtClean="0"/>
          </a:p>
          <a:p>
            <a:pPr algn="just"/>
            <a:r>
              <a:rPr lang="en-US" dirty="0" smtClean="0"/>
              <a:t>VIP</a:t>
            </a:r>
            <a:r>
              <a:rPr lang="ru-RU" dirty="0"/>
              <a:t>-клиенты </a:t>
            </a:r>
            <a:r>
              <a:rPr lang="en-US" dirty="0"/>
              <a:t>RFM</a:t>
            </a:r>
            <a:r>
              <a:rPr lang="ru-RU" dirty="0"/>
              <a:t>-111 (недавно и часто покупающие на большие суммы) составляют всего 0,1%, на карточке цель – 3%. </a:t>
            </a:r>
            <a:endParaRPr lang="ru-RU" dirty="0" smtClean="0"/>
          </a:p>
          <a:p>
            <a:pPr algn="just"/>
            <a:r>
              <a:rPr lang="ru-RU" dirty="0" smtClean="0"/>
              <a:t>Потерянные </a:t>
            </a:r>
            <a:r>
              <a:rPr lang="ru-RU" dirty="0"/>
              <a:t>клиенты </a:t>
            </a:r>
            <a:r>
              <a:rPr lang="en-US" dirty="0"/>
              <a:t>RFM-333</a:t>
            </a:r>
            <a:r>
              <a:rPr lang="ru-RU" dirty="0"/>
              <a:t> составляют 15,1%, цель снизить </a:t>
            </a:r>
            <a:r>
              <a:rPr lang="ru-RU" dirty="0" smtClean="0"/>
              <a:t>их </a:t>
            </a:r>
            <a:r>
              <a:rPr lang="ru-RU" dirty="0"/>
              <a:t>до 5%.</a:t>
            </a:r>
          </a:p>
          <a:p>
            <a:pPr marL="0" lvl="0" indent="0" algn="just">
              <a:buNone/>
            </a:pPr>
            <a:endParaRPr lang="ru-RU" dirty="0"/>
          </a:p>
          <a:p>
            <a:pPr marL="0" lvl="0" indent="0" algn="just">
              <a:buNone/>
            </a:pPr>
            <a:endParaRPr lang="ru-RU" dirty="0" smtClean="0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843" y="4296427"/>
            <a:ext cx="3371850" cy="1343025"/>
          </a:xfrm>
          <a:prstGeom prst="rect">
            <a:avLst/>
          </a:prstGeom>
        </p:spPr>
      </p:pic>
      <p:pic>
        <p:nvPicPr>
          <p:cNvPr id="5" name="Рисунок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43828" y="4636391"/>
            <a:ext cx="3267075" cy="1343025"/>
          </a:xfrm>
          <a:prstGeom prst="rect">
            <a:avLst/>
          </a:prstGeom>
        </p:spPr>
      </p:pic>
      <p:pic>
        <p:nvPicPr>
          <p:cNvPr id="6" name="Рисунок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7038" y="4967939"/>
            <a:ext cx="3228975" cy="1343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751808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53044" y="576196"/>
            <a:ext cx="10361070" cy="1954061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ru-RU" dirty="0" smtClean="0"/>
              <a:t>По таблице RFM-анализа можно получить дополнительную информацию</a:t>
            </a:r>
            <a:r>
              <a:rPr lang="ru-RU" dirty="0"/>
              <a:t> </a:t>
            </a:r>
            <a:r>
              <a:rPr lang="ru-RU" dirty="0" smtClean="0"/>
              <a:t>- размер </a:t>
            </a:r>
            <a:r>
              <a:rPr lang="ru-RU" dirty="0"/>
              <a:t>RFM-сегментов за период: </a:t>
            </a:r>
            <a:r>
              <a:rPr lang="ru-RU" dirty="0" smtClean="0"/>
              <a:t>всего 23 </a:t>
            </a:r>
            <a:r>
              <a:rPr lang="ru-RU" dirty="0"/>
              <a:t>сегмента, самый массовый сегмент 333 - 130 689 клиентов (15,1% от всех), сегмент </a:t>
            </a:r>
            <a:r>
              <a:rPr lang="en-US" dirty="0"/>
              <a:t>VIP</a:t>
            </a:r>
            <a:r>
              <a:rPr lang="ru-RU" dirty="0"/>
              <a:t> (111) - 826 клиентов (0,1%).</a:t>
            </a:r>
          </a:p>
          <a:p>
            <a:pPr marL="0" indent="0" algn="just">
              <a:buNone/>
            </a:pPr>
            <a:endParaRPr lang="ru-RU" dirty="0" smtClean="0"/>
          </a:p>
          <a:p>
            <a:pPr marL="0" lvl="0" indent="0" algn="just">
              <a:buNone/>
            </a:pPr>
            <a:endParaRPr lang="ru-RU" dirty="0" smtClean="0"/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2866" y="2530257"/>
            <a:ext cx="7029272" cy="36506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520630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53044" y="137786"/>
            <a:ext cx="10361070" cy="2993721"/>
          </a:xfrm>
        </p:spPr>
        <p:txBody>
          <a:bodyPr>
            <a:normAutofit fontScale="85000" lnSpcReduction="20000"/>
          </a:bodyPr>
          <a:lstStyle/>
          <a:p>
            <a:pPr marL="0" lvl="0" indent="0" algn="just">
              <a:buNone/>
            </a:pPr>
            <a:r>
              <a:rPr lang="ru-RU" dirty="0" smtClean="0"/>
              <a:t>По таблице RFM-анализа можно получить дополнительную информацию</a:t>
            </a:r>
            <a:r>
              <a:rPr lang="ru-RU" dirty="0"/>
              <a:t> </a:t>
            </a:r>
            <a:r>
              <a:rPr lang="ru-RU" dirty="0" smtClean="0"/>
              <a:t>- деньги </a:t>
            </a:r>
            <a:r>
              <a:rPr lang="ru-RU" dirty="0"/>
              <a:t>в  RFM-сегментах за период: общая выручка за год </a:t>
            </a:r>
            <a:r>
              <a:rPr lang="ru-RU" dirty="0" smtClean="0"/>
              <a:t>составляет 1,67 </a:t>
            </a:r>
            <a:r>
              <a:rPr lang="ru-RU" dirty="0"/>
              <a:t>трлн руб. Больше всего денег приносит сегмент 121. Самый высокий средний чек в сегменте 111, самый низкий средний чек в сегменте 333, 8 сегментов дают 89,2% выручки. Сегмент 333 самый большой по числу </a:t>
            </a:r>
            <a:r>
              <a:rPr lang="ru-RU" dirty="0" smtClean="0"/>
              <a:t>клиентов, </a:t>
            </a:r>
            <a:r>
              <a:rPr lang="ru-RU" dirty="0"/>
              <a:t>но дает только 2,1% выручки.</a:t>
            </a:r>
          </a:p>
          <a:p>
            <a:pPr marL="0" indent="0" algn="just">
              <a:buNone/>
            </a:pPr>
            <a:r>
              <a:rPr lang="ru-RU" dirty="0"/>
              <a:t>Рекомендуется маркетинговый бюджет вложить в сегменты: 121, 131, 231, 331 (дают 59,5% выручки, здесь самые крупные чеки 3,7–4,8 млн. руб.); 221, 232, 332, 132 (дают 29,7% выручки, чеки ниже 1,3–4,7 млн. руб., но стабильно; 111, 211, 311 - точечная работа, их мало, но чеки высокие 5,7–7,0 млн. руб.</a:t>
            </a:r>
          </a:p>
          <a:p>
            <a:pPr marL="0" indent="0" algn="just">
              <a:buNone/>
            </a:pPr>
            <a:endParaRPr lang="ru-RU" dirty="0" smtClean="0"/>
          </a:p>
          <a:p>
            <a:pPr marL="0" lvl="0" indent="0" algn="just">
              <a:buNone/>
            </a:pPr>
            <a:endParaRPr lang="ru-RU" dirty="0" smtClean="0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7729" y="3249200"/>
            <a:ext cx="9791700" cy="3390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895891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53043" y="588722"/>
            <a:ext cx="10361070" cy="4029075"/>
          </a:xfrm>
        </p:spPr>
        <p:txBody>
          <a:bodyPr>
            <a:normAutofit/>
          </a:bodyPr>
          <a:lstStyle/>
          <a:p>
            <a:pPr marL="0" lvl="0" indent="0" algn="just">
              <a:buNone/>
            </a:pPr>
            <a:r>
              <a:rPr lang="ru-RU" dirty="0" smtClean="0"/>
              <a:t>Воронка </a:t>
            </a:r>
            <a:r>
              <a:rPr lang="ru-RU" dirty="0"/>
              <a:t>покупок за период: LTV-воронка показывает, как клиенты совершают повторные покупки (от 1-й до 12-й).</a:t>
            </a:r>
            <a:r>
              <a:rPr lang="ru-RU" b="1" dirty="0"/>
              <a:t> </a:t>
            </a:r>
            <a:r>
              <a:rPr lang="ru-RU" dirty="0"/>
              <a:t>68.7% возвращаются за 2-й покупкой, что говорит о сильном продукте – это очень хороший показатель. Падение между 2 и 3,  3 и 4 покупками самое большое.</a:t>
            </a:r>
            <a:r>
              <a:rPr lang="ru-RU" b="1" dirty="0"/>
              <a:t> </a:t>
            </a:r>
            <a:r>
              <a:rPr lang="ru-RU" dirty="0"/>
              <a:t>Одноразовые (1 покупка) - 31.3%, возвращающиеся (2-4 покупки) - 54.7%, лояльные (5-7 покупок) - 7.0%, супер-лояльные (8+ покупок) - 0.16</a:t>
            </a:r>
            <a:r>
              <a:rPr lang="ru-RU" dirty="0" smtClean="0"/>
              <a:t>%.</a:t>
            </a:r>
          </a:p>
          <a:p>
            <a:pPr lvl="0"/>
            <a:endParaRPr lang="ru-RU" dirty="0"/>
          </a:p>
          <a:p>
            <a:pPr marL="0" indent="0" algn="just">
              <a:buNone/>
            </a:pPr>
            <a:endParaRPr lang="ru-RU" dirty="0" smtClean="0"/>
          </a:p>
          <a:p>
            <a:pPr marL="0" lvl="0" indent="0" algn="just">
              <a:buNone/>
            </a:pPr>
            <a:endParaRPr lang="ru-RU" dirty="0" smtClean="0"/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2490" y="3640768"/>
            <a:ext cx="9782175" cy="2457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902221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53044" y="137786"/>
            <a:ext cx="10361070" cy="3874000"/>
          </a:xfrm>
        </p:spPr>
        <p:txBody>
          <a:bodyPr>
            <a:normAutofit fontScale="85000" lnSpcReduction="10000"/>
          </a:bodyPr>
          <a:lstStyle/>
          <a:p>
            <a:pPr marL="0" lvl="0" indent="0" algn="just">
              <a:buNone/>
            </a:pPr>
            <a:r>
              <a:rPr lang="ru-RU" dirty="0" smtClean="0"/>
              <a:t>Количество </a:t>
            </a:r>
            <a:r>
              <a:rPr lang="ru-RU" dirty="0"/>
              <a:t>покупок и конверсия за период: </a:t>
            </a:r>
            <a:r>
              <a:rPr lang="ru-RU" dirty="0" smtClean="0"/>
              <a:t>конверсия </a:t>
            </a:r>
            <a:r>
              <a:rPr lang="ru-RU" dirty="0"/>
              <a:t>шага снижается с 68,73% до 10</a:t>
            </a:r>
            <a:r>
              <a:rPr lang="ru-RU" dirty="0" smtClean="0"/>
              <a:t>%.</a:t>
            </a:r>
            <a:endParaRPr lang="ru-RU" dirty="0"/>
          </a:p>
          <a:p>
            <a:pPr marL="0" indent="0" algn="just">
              <a:buNone/>
            </a:pPr>
            <a:r>
              <a:rPr lang="ru-RU" dirty="0"/>
              <a:t>Рекомендуется: после 1-й покупки - скидка или бонус на вторую покупку в течение 30 дней,  </a:t>
            </a:r>
            <a:r>
              <a:rPr lang="ru-RU" dirty="0" err="1"/>
              <a:t>Email</a:t>
            </a:r>
            <a:r>
              <a:rPr lang="ru-RU" dirty="0"/>
              <a:t>/SMS-напоминание через 7–14 дней после первой покупки, программа лояльности «Приведи друга</a:t>
            </a:r>
            <a:r>
              <a:rPr lang="ru-RU" dirty="0" smtClean="0"/>
              <a:t>»,</a:t>
            </a:r>
            <a:r>
              <a:rPr lang="ru-RU" dirty="0"/>
              <a:t> </a:t>
            </a:r>
            <a:r>
              <a:rPr lang="ru-RU" dirty="0" smtClean="0"/>
              <a:t>опрос. </a:t>
            </a:r>
            <a:r>
              <a:rPr lang="ru-RU" dirty="0"/>
              <a:t>После 2-й покупки - персональное предложение, накопительная система скидок, автоматическое напоминание «Ваш следующий заказ». После 3-ей покупки эксклюзивные условия, ранний доступ к новинкам, бесплатная доставка на 4-й заказ. Далее VIP-программа для 5+ покупок. Персональный менеджер для 10+ покупок, ежемесячная подписка со скидкой. </a:t>
            </a:r>
            <a:endParaRPr lang="ru-RU" dirty="0" smtClean="0"/>
          </a:p>
          <a:p>
            <a:pPr marL="0" indent="0" algn="just">
              <a:buNone/>
            </a:pPr>
            <a:r>
              <a:rPr lang="ru-RU" dirty="0" smtClean="0"/>
              <a:t>Важно </a:t>
            </a:r>
            <a:r>
              <a:rPr lang="ru-RU" dirty="0"/>
              <a:t>сфокусироваться на удержании клиентов после 1-й и 2-й покупки - здесь теряется больше всего людей. На 8+ покупках ресурсы желательно не тратить.</a:t>
            </a:r>
          </a:p>
          <a:p>
            <a:pPr marL="0" lvl="0" indent="0" algn="just">
              <a:buNone/>
            </a:pPr>
            <a:endParaRPr lang="ru-RU" dirty="0" smtClean="0"/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1541" y="4249780"/>
            <a:ext cx="9744075" cy="2466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377909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53044" y="425885"/>
            <a:ext cx="10361070" cy="3043825"/>
          </a:xfrm>
        </p:spPr>
        <p:txBody>
          <a:bodyPr>
            <a:normAutofit/>
          </a:bodyPr>
          <a:lstStyle/>
          <a:p>
            <a:pPr marL="0" lvl="0" indent="0" algn="just">
              <a:buNone/>
            </a:pPr>
            <a:r>
              <a:rPr lang="ru-RU" dirty="0" err="1" smtClean="0"/>
              <a:t>Monthly</a:t>
            </a:r>
            <a:r>
              <a:rPr lang="ru-RU" dirty="0" smtClean="0"/>
              <a:t> </a:t>
            </a:r>
            <a:r>
              <a:rPr lang="ru-RU" dirty="0" err="1"/>
              <a:t>Retention</a:t>
            </a:r>
            <a:r>
              <a:rPr lang="ru-RU" dirty="0"/>
              <a:t> за год: после первого месяца удержание падает с 100% до 14–16%,  с месяца 1 по 12 удержание стабильно держится на уровне 13–17%, удержание не снижается со временем, лучшее удержание у когорты 2023-01 (16,3%), худшее удержание у когорты 2023-02 (13,1%).</a:t>
            </a:r>
          </a:p>
          <a:p>
            <a:pPr marL="0" indent="0" algn="just">
              <a:buNone/>
            </a:pPr>
            <a:r>
              <a:rPr lang="ru-RU" dirty="0"/>
              <a:t>Рекомендации: главная задача - повысить конверсию из первой покупки во вторую (сейчас 15%). </a:t>
            </a:r>
          </a:p>
          <a:p>
            <a:pPr marL="0" lvl="0" indent="0" algn="just">
              <a:buNone/>
            </a:pPr>
            <a:endParaRPr lang="ru-RU" dirty="0" smtClean="0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6304" y="3469710"/>
            <a:ext cx="9734550" cy="26574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668883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53044" y="425885"/>
            <a:ext cx="10361070" cy="3870542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ru-RU" dirty="0" smtClean="0"/>
              <a:t>Анализ </a:t>
            </a:r>
            <a:r>
              <a:rPr lang="ru-RU" dirty="0"/>
              <a:t>топ-5 клиентов по сумме продаж: </a:t>
            </a:r>
            <a:r>
              <a:rPr lang="ru-RU" dirty="0" smtClean="0"/>
              <a:t>для ознакомления. </a:t>
            </a:r>
          </a:p>
          <a:p>
            <a:pPr marL="0" indent="0" algn="just">
              <a:buNone/>
            </a:pPr>
            <a:r>
              <a:rPr lang="ru-RU" dirty="0" smtClean="0"/>
              <a:t>Такие внушительные </a:t>
            </a:r>
            <a:r>
              <a:rPr lang="ru-RU" dirty="0"/>
              <a:t>суммы говорят о наличие крупных корпоративных клиентов, активно покупающих на онлайн-</a:t>
            </a:r>
            <a:r>
              <a:rPr lang="ru-RU" dirty="0" err="1"/>
              <a:t>маркетплейсе</a:t>
            </a:r>
            <a:r>
              <a:rPr lang="ru-RU" dirty="0"/>
              <a:t> в год на сумму около 20 </a:t>
            </a:r>
            <a:r>
              <a:rPr lang="ru-RU" dirty="0" err="1"/>
              <a:t>млн.руб</a:t>
            </a:r>
            <a:r>
              <a:rPr lang="ru-RU" dirty="0" smtClean="0"/>
              <a:t>.</a:t>
            </a:r>
          </a:p>
          <a:p>
            <a:pPr marL="0" indent="0" algn="just">
              <a:buNone/>
            </a:pPr>
            <a:r>
              <a:rPr lang="ru-RU" dirty="0" smtClean="0"/>
              <a:t>Примечателен тот факт, что в таблицу ТОП-5 попали как активные, так и неактивные, и даже «уходящие клиенты» (150425). Это говорит о том, что каждая группа клиентов достойна своего внимания и инструментов воздействия.</a:t>
            </a:r>
            <a:endParaRPr lang="ru-RU" dirty="0"/>
          </a:p>
          <a:p>
            <a:pPr marL="0" lvl="0" indent="0" algn="just">
              <a:buNone/>
            </a:pPr>
            <a:endParaRPr lang="ru-RU" dirty="0" smtClean="0"/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35626" y="4051843"/>
            <a:ext cx="3543300" cy="25622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362322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053252" y="926926"/>
            <a:ext cx="10361070" cy="3043825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lang="ru-RU" dirty="0" smtClean="0"/>
              <a:t>Ознакомительная информация о состоянии продаж за месяц: </a:t>
            </a:r>
            <a:r>
              <a:rPr lang="ru-RU" dirty="0"/>
              <a:t>количество клиентов за декабрь 2023 года </a:t>
            </a:r>
            <a:r>
              <a:rPr lang="ru-RU" dirty="0" smtClean="0"/>
              <a:t>- </a:t>
            </a:r>
            <a:r>
              <a:rPr lang="ru-RU" dirty="0"/>
              <a:t>167815 человек (что выше на 33,68% по сравнению с предыдущим месяцем), количество заказов за месяц 183624 (что выше на 36,81% по сравнению с предыдущим месяцем). Скорей всего рост связан с новогодними праздниками.</a:t>
            </a:r>
          </a:p>
          <a:p>
            <a:pPr marL="0" lvl="0" indent="0" algn="just">
              <a:buNone/>
            </a:pPr>
            <a:endParaRPr lang="ru-RU" dirty="0" smtClean="0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38071" y="3648466"/>
            <a:ext cx="5915025" cy="1790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65704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65570" y="638827"/>
            <a:ext cx="10361070" cy="2104373"/>
          </a:xfrm>
        </p:spPr>
        <p:txBody>
          <a:bodyPr>
            <a:normAutofit/>
          </a:bodyPr>
          <a:lstStyle/>
          <a:p>
            <a:pPr marL="0" lvl="0" indent="0" algn="just">
              <a:buNone/>
            </a:pPr>
            <a:r>
              <a:rPr lang="ru-RU" dirty="0"/>
              <a:t>Динамика дневного посещения DAU за </a:t>
            </a:r>
            <a:r>
              <a:rPr lang="ru-RU" dirty="0" smtClean="0"/>
              <a:t>2023 год: </a:t>
            </a:r>
            <a:r>
              <a:rPr lang="ru-RU" dirty="0"/>
              <a:t>если смотреть на график целиком, без детального анализа пиков и провалов, то общий тренд действительно стабильный (нет явного роста или падения, слабый всплеск в сентябре, слабый провал в ноябре).</a:t>
            </a:r>
          </a:p>
          <a:p>
            <a:pPr marL="0" lvl="0" indent="0" algn="just">
              <a:buNone/>
            </a:pPr>
            <a:endParaRPr lang="ru-RU" dirty="0" smtClean="0"/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68253" y="2830882"/>
            <a:ext cx="7052154" cy="3634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226572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65570" y="638827"/>
            <a:ext cx="10361070" cy="2104373"/>
          </a:xfrm>
        </p:spPr>
        <p:txBody>
          <a:bodyPr>
            <a:normAutofit/>
          </a:bodyPr>
          <a:lstStyle/>
          <a:p>
            <a:pPr marL="0" lvl="0" indent="0" algn="just">
              <a:buNone/>
            </a:pPr>
            <a:r>
              <a:rPr lang="ru-RU" dirty="0"/>
              <a:t>Среднее-медиана MAU за </a:t>
            </a:r>
            <a:r>
              <a:rPr lang="ru-RU" dirty="0" smtClean="0"/>
              <a:t>2023 год: </a:t>
            </a:r>
            <a:r>
              <a:rPr lang="ru-RU" dirty="0"/>
              <a:t>медиана (156470) &gt; </a:t>
            </a:r>
            <a:r>
              <a:rPr lang="ru-RU" dirty="0" smtClean="0"/>
              <a:t>среднего </a:t>
            </a:r>
            <a:r>
              <a:rPr lang="ru-RU" dirty="0"/>
              <a:t>(153441) (распределение слегка левостороннее, отрицательная асимметрия), есть несколько низких месяцев, которые тянут среднее вниз, но нет явного тренда.</a:t>
            </a:r>
          </a:p>
          <a:p>
            <a:pPr marL="0" lvl="0" indent="0" algn="just">
              <a:buNone/>
            </a:pPr>
            <a:endParaRPr lang="ru-RU" dirty="0" smtClean="0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2985" y="2743200"/>
            <a:ext cx="3505200" cy="2867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811706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65570" y="488515"/>
            <a:ext cx="10361070" cy="3519814"/>
          </a:xfrm>
        </p:spPr>
        <p:txBody>
          <a:bodyPr>
            <a:normAutofit lnSpcReduction="10000"/>
          </a:bodyPr>
          <a:lstStyle/>
          <a:p>
            <a:pPr marL="0" lvl="0" indent="0" algn="just">
              <a:buNone/>
            </a:pPr>
            <a:r>
              <a:rPr lang="ru-RU" dirty="0"/>
              <a:t>Количество клиентов за период: здесь представлено соотношение по гендерному составу. Количество клиентов мужского и женского пола практически одинаково. Общее количество клиентов за 2023 год составило 864460 человек.</a:t>
            </a:r>
          </a:p>
          <a:p>
            <a:pPr marL="0" lvl="0" indent="0" algn="just">
              <a:buNone/>
            </a:pPr>
            <a:r>
              <a:rPr lang="ru-RU" dirty="0"/>
              <a:t>Общая сумма заказов за период: здесь представлено соотношение по гендерному составу. Общая стоимость заказов клиентов мужского и женского пола практически одинакова. Общая стоимость заказов за 2023 год составила 1,7 </a:t>
            </a:r>
            <a:r>
              <a:rPr lang="ru-RU" dirty="0" err="1"/>
              <a:t>трл</a:t>
            </a:r>
            <a:r>
              <a:rPr lang="ru-RU" dirty="0"/>
              <a:t>. руб.</a:t>
            </a:r>
            <a:endParaRPr lang="ru-RU" dirty="0" smtClean="0"/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0868" y="4262829"/>
            <a:ext cx="7848600" cy="2390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658940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65570" y="488515"/>
            <a:ext cx="10361070" cy="3519814"/>
          </a:xfrm>
        </p:spPr>
        <p:txBody>
          <a:bodyPr>
            <a:normAutofit/>
          </a:bodyPr>
          <a:lstStyle/>
          <a:p>
            <a:pPr marL="0" lvl="0" indent="0" algn="just">
              <a:buNone/>
            </a:pPr>
            <a:r>
              <a:rPr lang="ru-RU" dirty="0"/>
              <a:t>Метрики LTV по гендерному признаку: обе аудитории одинаково прибыльны. Однако максимальный  LTV у мужчин (на ~3,2 млн выше). </a:t>
            </a:r>
            <a:r>
              <a:rPr lang="ru-RU" dirty="0" smtClean="0"/>
              <a:t>Таких </a:t>
            </a:r>
            <a:r>
              <a:rPr lang="ru-RU" dirty="0"/>
              <a:t>клиентов единицы, на среднюю статистику они не влияют. Нет необходимости разделять маркетинг по полу - оба сегмента одинаково ценны, инвестиции в привлечение мужчин и женщин должны быть равными. Медианный LTV (~1.33 млн) - хороший ориентир для окупаемости CAC</a:t>
            </a:r>
            <a:r>
              <a:rPr lang="ru-RU" dirty="0" smtClean="0"/>
              <a:t>.</a:t>
            </a:r>
            <a:endParaRPr lang="ru-RU" dirty="0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7924" y="3720230"/>
            <a:ext cx="8162794" cy="28139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942790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65570" y="488515"/>
            <a:ext cx="10361070" cy="3519814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ru-RU" dirty="0" smtClean="0"/>
              <a:t>Однако</a:t>
            </a:r>
            <a:r>
              <a:rPr lang="ru-RU" dirty="0"/>
              <a:t>, разброс LTV очень большой (0 – 21 млн). Т.е. есть сверхценные клиенты, которых нужно удерживать отдельно. Стандартное отклонение почти равно среднему </a:t>
            </a:r>
            <a:r>
              <a:rPr lang="ru-RU" dirty="0"/>
              <a:t> –</a:t>
            </a:r>
            <a:r>
              <a:rPr lang="ru-RU" dirty="0" smtClean="0"/>
              <a:t> </a:t>
            </a:r>
            <a:r>
              <a:rPr lang="ru-RU" dirty="0"/>
              <a:t>высокая неоднородность внутри каждого пола. Имеются нулевые LTV (возможно, возвраты) </a:t>
            </a:r>
            <a:r>
              <a:rPr lang="ru-RU" dirty="0"/>
              <a:t>–</a:t>
            </a:r>
            <a:r>
              <a:rPr lang="ru-RU" dirty="0" smtClean="0"/>
              <a:t> </a:t>
            </a:r>
            <a:r>
              <a:rPr lang="ru-RU" dirty="0"/>
              <a:t>если их много, это «мертвые» клиенты, которые тратили бюджет на привлечение впустую.</a:t>
            </a: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7272" y="3294802"/>
            <a:ext cx="8086725" cy="24479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25956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65570" y="488515"/>
            <a:ext cx="10361070" cy="3519814"/>
          </a:xfrm>
        </p:spPr>
        <p:txBody>
          <a:bodyPr>
            <a:normAutofit/>
          </a:bodyPr>
          <a:lstStyle/>
          <a:p>
            <a:pPr marL="0" lvl="0" indent="0" algn="just">
              <a:buNone/>
            </a:pPr>
            <a:r>
              <a:rPr lang="ru-RU" dirty="0"/>
              <a:t>Топ-3 часа с пиковой нагрузкой за период (по рангу): данная информация в ознакомительных целях показывает самые загруженные часы </a:t>
            </a:r>
            <a:r>
              <a:rPr lang="ru-RU" dirty="0" err="1"/>
              <a:t>маркетплейса</a:t>
            </a:r>
            <a:r>
              <a:rPr lang="ru-RU" dirty="0"/>
              <a:t>, она необходима, например, для:  добавления мощностей серверов под пик (иначе сайт ляжет), экономии денег (не держать мощности 24/7), планирования тяжелых операций на реально свободное время (миграцию, </a:t>
            </a:r>
            <a:r>
              <a:rPr lang="en-US" dirty="0"/>
              <a:t>backup</a:t>
            </a:r>
            <a:r>
              <a:rPr lang="ru-RU" dirty="0"/>
              <a:t>).</a:t>
            </a:r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77794" y="3614934"/>
            <a:ext cx="3086100" cy="1657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0540698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Контур">
  <a:themeElements>
    <a:clrScheme name="Circuit">
      <a:dk1>
        <a:sysClr val="windowText" lastClr="000000"/>
      </a:dk1>
      <a:lt1>
        <a:sysClr val="window" lastClr="FFFFFF"/>
      </a:lt1>
      <a:dk2>
        <a:srgbClr val="134770"/>
      </a:dk2>
      <a:lt2>
        <a:srgbClr val="82FFFF"/>
      </a:lt2>
      <a:accent1>
        <a:srgbClr val="9ACD4C"/>
      </a:accent1>
      <a:accent2>
        <a:srgbClr val="FAA93A"/>
      </a:accent2>
      <a:accent3>
        <a:srgbClr val="D35940"/>
      </a:accent3>
      <a:accent4>
        <a:srgbClr val="B258D3"/>
      </a:accent4>
      <a:accent5>
        <a:srgbClr val="63A0CC"/>
      </a:accent5>
      <a:accent6>
        <a:srgbClr val="8AC4A7"/>
      </a:accent6>
      <a:hlink>
        <a:srgbClr val="B8FA56"/>
      </a:hlink>
      <a:folHlink>
        <a:srgbClr val="7AF8CC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5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88000"/>
                <a:hueMod val="106000"/>
                <a:satMod val="140000"/>
                <a:lumMod val="54000"/>
              </a:schemeClr>
              <a:schemeClr val="phClr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0911B802-464C-4241-8DD9-B60FF88E379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{8D5A97D6-C71B-43CD-B712-A70AD6C8B741}TF6d5feb1e-e145-43f1-b745-cb4b54c5ee9733a8a5b4-7ba003f5bf80</Template>
  <TotalTime>256</TotalTime>
  <Words>1137</Words>
  <Application>Microsoft Office PowerPoint</Application>
  <PresentationFormat>Широкоэкранный</PresentationFormat>
  <Paragraphs>91</Paragraphs>
  <Slides>24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24</vt:i4>
      </vt:variant>
    </vt:vector>
  </HeadingPairs>
  <TitlesOfParts>
    <vt:vector size="30" baseType="lpstr">
      <vt:lpstr>Arial</vt:lpstr>
      <vt:lpstr>Calibri</vt:lpstr>
      <vt:lpstr>Times New Roman</vt:lpstr>
      <vt:lpstr>Trebuchet MS</vt:lpstr>
      <vt:lpstr>Tw Cen MT</vt:lpstr>
      <vt:lpstr>Контур</vt:lpstr>
      <vt:lpstr>Анализ продаж онлайн-маркетплейса</vt:lpstr>
      <vt:lpstr>Анализ клиентской базы</vt:lpstr>
      <vt:lpstr>RFM-анализ клиентов 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Анализ продаж онлайн-маркетплейса</dc:title>
  <dc:creator>Максим Михалев</dc:creator>
  <cp:lastModifiedBy>Лапушка</cp:lastModifiedBy>
  <cp:revision>34</cp:revision>
  <dcterms:created xsi:type="dcterms:W3CDTF">2026-05-02T13:26:51Z</dcterms:created>
  <dcterms:modified xsi:type="dcterms:W3CDTF">2026-05-03T15:00:03Z</dcterms:modified>
</cp:coreProperties>
</file>