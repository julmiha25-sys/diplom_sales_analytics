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6" r:id="rId9"/>
    <p:sldId id="275" r:id="rId10"/>
    <p:sldId id="267" r:id="rId11"/>
    <p:sldId id="262" r:id="rId12"/>
    <p:sldId id="263" r:id="rId13"/>
    <p:sldId id="264" r:id="rId14"/>
    <p:sldId id="270" r:id="rId15"/>
    <p:sldId id="265" r:id="rId16"/>
    <p:sldId id="268" r:id="rId17"/>
    <p:sldId id="269" r:id="rId18"/>
    <p:sldId id="271" r:id="rId19"/>
    <p:sldId id="272" r:id="rId20"/>
    <p:sldId id="273" r:id="rId21"/>
    <p:sldId id="274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9" autoAdjust="0"/>
    <p:restoredTop sz="94660"/>
  </p:normalViewPr>
  <p:slideViewPr>
    <p:cSldViewPr snapToGrid="0">
      <p:cViewPr varScale="1">
        <p:scale>
          <a:sx n="72" d="100"/>
          <a:sy n="72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474CCB-FAC8-2251-7C09-72612271F4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dirty="0"/>
              <a:t>Анализ продаж онлайн-маркетплейса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A84B73-3502-E438-AC63-F38A4E4DBD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Анализ клиентской базы за 2023 год</a:t>
            </a:r>
          </a:p>
        </p:txBody>
      </p:sp>
    </p:spTree>
    <p:extLst>
      <p:ext uri="{BB962C8B-B14F-4D97-AF65-F5344CB8AC3E}">
        <p14:creationId xmlns:p14="http://schemas.microsoft.com/office/powerpoint/2010/main" val="51122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792A5A-C2DD-FA6E-B94A-61FEBB0A3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70829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Анализ клиентской базы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CFA8C6-8059-6DDE-BBE7-BD9C72B62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08087"/>
            <a:ext cx="9905999" cy="3915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Это систематическое изучение клиентов по разным срезам:</a:t>
            </a:r>
          </a:p>
          <a:p>
            <a:r>
              <a:rPr lang="ru-RU" b="1" dirty="0"/>
              <a:t>Кто они</a:t>
            </a:r>
            <a:r>
              <a:rPr lang="ru-RU" dirty="0"/>
              <a:t> (пол, возраст, география)?</a:t>
            </a:r>
          </a:p>
          <a:p>
            <a:r>
              <a:rPr lang="ru-RU" b="1" dirty="0"/>
              <a:t>Как покупают</a:t>
            </a:r>
            <a:r>
              <a:rPr lang="ru-RU" dirty="0"/>
              <a:t> (частота, суммы, категории товаров)?</a:t>
            </a:r>
          </a:p>
          <a:p>
            <a:r>
              <a:rPr lang="ru-RU" b="1" dirty="0"/>
              <a:t>Когда уходят</a:t>
            </a:r>
            <a:r>
              <a:rPr lang="ru-RU" dirty="0"/>
              <a:t> (отток, давность последней покупки)?</a:t>
            </a:r>
          </a:p>
          <a:p>
            <a:r>
              <a:rPr lang="ru-RU" b="1" dirty="0"/>
              <a:t>Сколько приносят</a:t>
            </a:r>
            <a:r>
              <a:rPr lang="ru-RU" dirty="0"/>
              <a:t> (LTV, средний чек)?</a:t>
            </a:r>
          </a:p>
          <a:p>
            <a:pPr marL="0" indent="0" algn="just">
              <a:buNone/>
            </a:pPr>
            <a:r>
              <a:rPr lang="ru-RU" dirty="0"/>
              <a:t>Цель анализа  — </a:t>
            </a:r>
            <a:r>
              <a:rPr lang="ru-RU" b="1" dirty="0"/>
              <a:t>перестать работать со всеми одинаково</a:t>
            </a:r>
            <a:r>
              <a:rPr lang="ru-RU" dirty="0"/>
              <a:t> и начать инвестировать туда, где максимальная отдача.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3505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792A5A-C2DD-FA6E-B94A-61FEBB0A3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70829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RFM</a:t>
            </a:r>
            <a:r>
              <a:rPr lang="ru-RU" dirty="0"/>
              <a:t>-анализ клиентов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CFA8C6-8059-6DDE-BBE7-BD9C72B62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08087"/>
            <a:ext cx="9905999" cy="3915058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dirty="0"/>
              <a:t>RFM-</a:t>
            </a:r>
            <a:r>
              <a:rPr lang="ru-RU" dirty="0"/>
              <a:t>анализ клиентов — это метод сегментации клиентов, который помогает понять, кто из клиентов самый ценный, а кто «спит» или ушёл.</a:t>
            </a:r>
          </a:p>
          <a:p>
            <a:pPr marL="0" indent="0" algn="just">
              <a:buNone/>
            </a:pPr>
            <a:r>
              <a:rPr lang="ru-RU" dirty="0"/>
              <a:t>Метрики анализа:</a:t>
            </a:r>
          </a:p>
          <a:p>
            <a:r>
              <a:rPr lang="ru-RU" b="1" dirty="0"/>
              <a:t>R (</a:t>
            </a:r>
            <a:r>
              <a:rPr lang="ru-RU" b="1" dirty="0" err="1"/>
              <a:t>Recency</a:t>
            </a:r>
            <a:r>
              <a:rPr lang="ru-RU" b="1" dirty="0"/>
              <a:t>)</a:t>
            </a:r>
            <a:r>
              <a:rPr lang="ru-RU" dirty="0"/>
              <a:t> — д</a:t>
            </a:r>
            <a:r>
              <a:rPr lang="ru-RU" b="1" dirty="0"/>
              <a:t>авность</a:t>
            </a:r>
            <a:r>
              <a:rPr lang="ru-RU" dirty="0"/>
              <a:t>: как давно клиент совершил последнюю покупку.</a:t>
            </a:r>
          </a:p>
          <a:p>
            <a:r>
              <a:rPr lang="ru-RU" b="1" dirty="0"/>
              <a:t>F (</a:t>
            </a:r>
            <a:r>
              <a:rPr lang="ru-RU" b="1" dirty="0" err="1"/>
              <a:t>Frequency</a:t>
            </a:r>
            <a:r>
              <a:rPr lang="ru-RU" b="1" dirty="0"/>
              <a:t>)</a:t>
            </a:r>
            <a:r>
              <a:rPr lang="ru-RU" dirty="0"/>
              <a:t> — ч</a:t>
            </a:r>
            <a:r>
              <a:rPr lang="ru-RU" b="1" dirty="0"/>
              <a:t>астота</a:t>
            </a:r>
            <a:r>
              <a:rPr lang="ru-RU" dirty="0"/>
              <a:t>: как много покупок клиент совершил за период.</a:t>
            </a:r>
          </a:p>
          <a:p>
            <a:r>
              <a:rPr lang="ru-RU" b="1" dirty="0"/>
              <a:t>M (</a:t>
            </a:r>
            <a:r>
              <a:rPr lang="ru-RU" b="1" dirty="0" err="1"/>
              <a:t>Monetary</a:t>
            </a:r>
            <a:r>
              <a:rPr lang="ru-RU" b="1" dirty="0"/>
              <a:t>)</a:t>
            </a:r>
            <a:r>
              <a:rPr lang="ru-RU" dirty="0"/>
              <a:t> — </a:t>
            </a:r>
            <a:r>
              <a:rPr lang="ru-RU" b="1" dirty="0"/>
              <a:t>деньги</a:t>
            </a:r>
            <a:r>
              <a:rPr lang="ru-RU" dirty="0"/>
              <a:t>: сколько всего денег клиент потратил.</a:t>
            </a:r>
          </a:p>
          <a:p>
            <a:pPr marL="0" indent="0" algn="just">
              <a:buNone/>
            </a:pPr>
            <a:r>
              <a:rPr lang="ru-RU" dirty="0"/>
              <a:t>Цель анализа – сегментация клиентской базы по метрикам и группам оценок.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6954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28677" y="420686"/>
            <a:ext cx="9905999" cy="2760924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График </a:t>
            </a:r>
            <a:r>
              <a:rPr lang="ru-RU" dirty="0" err="1"/>
              <a:t>Recency</a:t>
            </a:r>
            <a:r>
              <a:rPr lang="ru-RU" dirty="0"/>
              <a:t> показывает распределение пользователей по  количеству дней с момента последней покупки. </a:t>
            </a:r>
          </a:p>
          <a:p>
            <a:pPr marL="0" indent="0" algn="just">
              <a:buNone/>
            </a:pPr>
            <a:r>
              <a:rPr lang="ru-RU" dirty="0"/>
              <a:t>При разделении графика </a:t>
            </a:r>
            <a:r>
              <a:rPr lang="en-US" dirty="0" err="1"/>
              <a:t>Recency</a:t>
            </a:r>
            <a:r>
              <a:rPr lang="en-US" dirty="0"/>
              <a:t> </a:t>
            </a:r>
            <a:r>
              <a:rPr lang="ru-RU" dirty="0"/>
              <a:t>на группы использовался метод </a:t>
            </a:r>
            <a:r>
              <a:rPr lang="ru-RU" dirty="0" err="1"/>
              <a:t>тертильной</a:t>
            </a:r>
            <a:r>
              <a:rPr lang="ru-RU" dirty="0"/>
              <a:t> сегментации (33-й и 66-й перцентили).</a:t>
            </a:r>
          </a:p>
          <a:p>
            <a:pPr marL="0" indent="0" algn="just">
              <a:buNone/>
            </a:pPr>
            <a:r>
              <a:rPr lang="ru-RU" dirty="0"/>
              <a:t>Плавный спад от 1 до 361 дня без резких скачков говорит о том, что клиенты уходят постепенно.</a:t>
            </a:r>
          </a:p>
          <a:p>
            <a:pPr marL="0" indent="0" algn="just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17833D-27EC-4632-8FBA-2E3E8ED44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978" y="3429000"/>
            <a:ext cx="4034044" cy="316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843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1" y="383108"/>
            <a:ext cx="9905999" cy="302397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График </a:t>
            </a:r>
            <a:r>
              <a:rPr lang="ru-RU" dirty="0" err="1"/>
              <a:t>Frequency</a:t>
            </a:r>
            <a:r>
              <a:rPr lang="ru-RU" dirty="0"/>
              <a:t> показывает распределение пользователей по  количеству покупок.  Большинство клиентов делают 1-2 покупки. </a:t>
            </a:r>
          </a:p>
          <a:p>
            <a:pPr marL="0" indent="0" algn="just">
              <a:buNone/>
            </a:pPr>
            <a:r>
              <a:rPr lang="ru-RU" dirty="0"/>
              <a:t>При разделении графика </a:t>
            </a:r>
            <a:r>
              <a:rPr lang="en-US" dirty="0" err="1"/>
              <a:t>Recency</a:t>
            </a:r>
            <a:r>
              <a:rPr lang="en-US" dirty="0"/>
              <a:t> </a:t>
            </a:r>
            <a:r>
              <a:rPr lang="ru-RU" dirty="0"/>
              <a:t>на группы использовался метод </a:t>
            </a:r>
            <a:r>
              <a:rPr lang="ru-RU" dirty="0" err="1"/>
              <a:t>тертильной</a:t>
            </a:r>
            <a:r>
              <a:rPr lang="ru-RU" dirty="0"/>
              <a:t> сегментации (33-й и 66-й перцентили).</a:t>
            </a:r>
          </a:p>
          <a:p>
            <a:pPr marL="0" indent="0" algn="just">
              <a:buNone/>
            </a:pPr>
            <a:r>
              <a:rPr lang="ru-RU" dirty="0"/>
              <a:t>Для повышения частоты покупок рекомендуется фокусироваться на переходе клиентов из группы с 2-я покупками в группу с 3-я покупками.</a:t>
            </a:r>
          </a:p>
          <a:p>
            <a:pPr marL="0" indent="0" algn="just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6E0075-992E-4CB7-95DC-E82BB8731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294" y="3430984"/>
            <a:ext cx="4087053" cy="319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496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16151" y="200416"/>
            <a:ext cx="10361070" cy="4396636"/>
          </a:xfrm>
        </p:spPr>
        <p:txBody>
          <a:bodyPr>
            <a:normAutofit fontScale="92500" lnSpcReduction="10000"/>
          </a:bodyPr>
          <a:lstStyle/>
          <a:p>
            <a:pPr marL="0" lvl="0" indent="0" algn="just">
              <a:buNone/>
            </a:pPr>
            <a:r>
              <a:rPr lang="ru-RU" dirty="0"/>
              <a:t>График </a:t>
            </a:r>
            <a:r>
              <a:rPr lang="ru-RU" dirty="0" err="1"/>
              <a:t>Monetary</a:t>
            </a:r>
            <a:r>
              <a:rPr lang="ru-RU" dirty="0"/>
              <a:t> показывает распределение пользователей по  общей сумме покупок.</a:t>
            </a:r>
          </a:p>
          <a:p>
            <a:pPr marL="0" indent="0" algn="just">
              <a:buNone/>
            </a:pPr>
            <a:r>
              <a:rPr lang="ru-RU" dirty="0"/>
              <a:t>При разделении графика </a:t>
            </a:r>
            <a:r>
              <a:rPr lang="en-US" dirty="0" err="1"/>
              <a:t>Recency</a:t>
            </a:r>
            <a:r>
              <a:rPr lang="en-US" dirty="0"/>
              <a:t> </a:t>
            </a:r>
            <a:r>
              <a:rPr lang="ru-RU" dirty="0"/>
              <a:t>на группы использовался метод </a:t>
            </a:r>
            <a:r>
              <a:rPr lang="ru-RU" dirty="0" err="1"/>
              <a:t>тертильной</a:t>
            </a:r>
            <a:r>
              <a:rPr lang="ru-RU" dirty="0"/>
              <a:t> сегментации (33-й и 66-й перцентили) и </a:t>
            </a:r>
            <a:r>
              <a:rPr lang="ru-RU" dirty="0" err="1"/>
              <a:t>биннинг</a:t>
            </a:r>
            <a:r>
              <a:rPr lang="ru-RU" dirty="0"/>
              <a:t> с шагом 50 тыс. руб.</a:t>
            </a:r>
          </a:p>
          <a:p>
            <a:pPr marL="0" lvl="0" indent="0" algn="just">
              <a:buNone/>
            </a:pPr>
            <a:r>
              <a:rPr lang="ru-RU" dirty="0"/>
              <a:t>Пик в самом левом диапазоне (маленькие чеки), длинный хвост вправо (очень мало крупных клиентов), асимметрия - большинство тратит мало, редкие – много.</a:t>
            </a:r>
          </a:p>
          <a:p>
            <a:pPr marL="0" indent="0" algn="just">
              <a:buNone/>
            </a:pPr>
            <a:r>
              <a:rPr lang="ru-RU" dirty="0"/>
              <a:t>Для роста выручки рекомендуется: подтягивать клиентов из левой части распределения вправо,  удерживать крупных клиентов из правого хвоста (программа лояльности, персональный менеджер), привлекать новых клиентов, способных тратить выше среднего.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6F8E475-F4E6-4847-95CF-2094C18A0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588" y="4340388"/>
            <a:ext cx="3260656" cy="251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181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52835" y="626301"/>
            <a:ext cx="10361070" cy="1365337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ru-RU" dirty="0"/>
              <a:t>В таблице RFM-анализа дополнительно рассчитывается LTV клиента за все время. Здесь можно проанализировать каждого клиента.</a:t>
            </a:r>
          </a:p>
          <a:p>
            <a:pPr marL="0" lvl="0" indent="0" algn="just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709BF3-207B-4328-884A-DCEA613E5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15" y="2118277"/>
            <a:ext cx="1053465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36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1458" y="150313"/>
            <a:ext cx="10960273" cy="65511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/>
              <a:t>Основные гипотезы при анализе клиентской базы </a:t>
            </a:r>
            <a:r>
              <a:rPr lang="ru-RU" b="1" dirty="0"/>
              <a:t>онлайн-</a:t>
            </a:r>
            <a:r>
              <a:rPr lang="ru-RU" b="1" dirty="0" err="1"/>
              <a:t>маркетплейса</a:t>
            </a:r>
            <a:r>
              <a:rPr lang="ru-RU" dirty="0"/>
              <a:t>:</a:t>
            </a:r>
          </a:p>
          <a:p>
            <a:pPr lvl="0" algn="just"/>
            <a:r>
              <a:rPr lang="ru-RU" dirty="0"/>
              <a:t>В клиентской базе существуют как лояльные клиенты, так и «разовые». Поэтому клиентская база нуждается в сегментации для разработки </a:t>
            </a:r>
            <a:r>
              <a:rPr lang="ru-RU" dirty="0" err="1"/>
              <a:t>таргетированных</a:t>
            </a:r>
            <a:r>
              <a:rPr lang="ru-RU" dirty="0"/>
              <a:t> сценариев взаимодействия с каждой группой.</a:t>
            </a:r>
          </a:p>
          <a:p>
            <a:pPr lvl="0" algn="just"/>
            <a:r>
              <a:rPr lang="ru-RU" dirty="0"/>
              <a:t>Определение списка ключевых клиентов, приносящих большую часть прибыли, необходимо для активного развития и вовлечения их в дальнейшее взаимодействие, для максимального удержания. Здесь имеет смысл стимулировать клиентов нематериальными бонусами: приглашать на мероприятия, бесплатно присылать полезные экспертные материалы.</a:t>
            </a:r>
          </a:p>
          <a:p>
            <a:pPr lvl="0" algn="just"/>
            <a:r>
              <a:rPr lang="ru-RU" dirty="0"/>
              <a:t>Определение списка «спящих» клиентов, совершивших покупки в прошлом, но не проявляющих активности в течение некоторого интервала времени, необходимо для их «активации». Здесь целесообразно предложить более дорогие продукты, а частоту рассылок можно увеличить, порекомендовать популярные товары, действующие акции и </a:t>
            </a:r>
            <a:r>
              <a:rPr lang="ru-RU" dirty="0" err="1"/>
              <a:t>промокоды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0517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9036" y="663880"/>
            <a:ext cx="10960273" cy="5411243"/>
          </a:xfrm>
        </p:spPr>
        <p:txBody>
          <a:bodyPr>
            <a:noAutofit/>
          </a:bodyPr>
          <a:lstStyle/>
          <a:p>
            <a:pPr lvl="0" algn="just"/>
            <a:r>
              <a:rPr lang="ru-RU" dirty="0"/>
              <a:t>Определение списка клиентов, совершавших редко крупные покупки, необходимо для их мотивации. Здесь можно ограничиваемся стандартными рассылками или звонками.</a:t>
            </a:r>
          </a:p>
          <a:p>
            <a:pPr lvl="0" algn="just"/>
            <a:r>
              <a:rPr lang="ru-RU" dirty="0"/>
              <a:t>Определение списка бесперспективных клиентов, совершавших давно и нечасто небольшие покупки, необходимо для того, чтобы не тратить на них большого количества ресурсов. Здесь целесообразно использовать низкобюджетные попытки активировать их с помощью бонусных баллов, </a:t>
            </a:r>
            <a:r>
              <a:rPr lang="ru-RU" dirty="0" err="1"/>
              <a:t>промокодов</a:t>
            </a:r>
            <a:r>
              <a:rPr lang="ru-RU" dirty="0"/>
              <a:t> или акций.</a:t>
            </a:r>
          </a:p>
          <a:p>
            <a:pPr lvl="0" algn="just"/>
            <a:r>
              <a:rPr lang="ru-RU" dirty="0"/>
              <a:t>Определение списка клиентов промежуточных категорий также позволит выявить стратегии для работы с ними (акция, звонок, опрос, рассылка и прочее).</a:t>
            </a:r>
          </a:p>
        </p:txBody>
      </p:sp>
    </p:spTree>
    <p:extLst>
      <p:ext uri="{BB962C8B-B14F-4D97-AF65-F5344CB8AC3E}">
        <p14:creationId xmlns:p14="http://schemas.microsoft.com/office/powerpoint/2010/main" val="536528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46284"/>
              </p:ext>
            </p:extLst>
          </p:nvPr>
        </p:nvGraphicFramePr>
        <p:xfrm>
          <a:off x="1334139" y="375774"/>
          <a:ext cx="9814025" cy="6200382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660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3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336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Постоянные клиенты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6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111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стимулировать нематериальными бонусами: приглашать на мероприятия, бесплатно присылать полезные экспертные материалы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112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не нагружать рассылками и звонками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113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предлагать более дорогие товары из ассортимента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121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стандартные рассылки или звонки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122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предлагать более дорогие товары из ассортимента, увеличить частоту рассылок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336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Новые клиенты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131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предлагать акцию или скидку на следующую покупку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132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пригласить подписаться на рассылку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336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Неактивные клиенты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6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211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сделать звонок-опрос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6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212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сделать звонок, рассылку, предложить акцию или скидка с ограниченным сроком действия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6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221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сделать звонок-опрос, порекомендовать популярные товары, предложить акцию или </a:t>
                      </a:r>
                      <a:r>
                        <a:rPr lang="ru-RU" sz="1600" dirty="0" err="1">
                          <a:effectLst/>
                        </a:rPr>
                        <a:t>промокод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6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231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прислать бонусные баллы, </a:t>
                      </a:r>
                      <a:r>
                        <a:rPr lang="ru-RU" sz="1600" dirty="0" err="1">
                          <a:effectLst/>
                        </a:rPr>
                        <a:t>промокод</a:t>
                      </a:r>
                      <a:r>
                        <a:rPr lang="ru-RU" sz="1600" dirty="0">
                          <a:effectLst/>
                        </a:rPr>
                        <a:t> или сообщить о проходящей акции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6336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Уходящие клиенты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6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311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сделать звонок-опрос или письмо-опрос, предложить акцию или скидку на товар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6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321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сделать звонок-опрос или письмо-опрос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26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331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прислать бонусные баллы, </a:t>
                      </a:r>
                      <a:r>
                        <a:rPr lang="ru-RU" sz="1600" dirty="0" err="1">
                          <a:effectLst/>
                        </a:rPr>
                        <a:t>промокод</a:t>
                      </a:r>
                      <a:r>
                        <a:rPr lang="ru-RU" sz="1600" dirty="0">
                          <a:effectLst/>
                        </a:rPr>
                        <a:t> или сообщить о проходящей акции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753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53044" y="576197"/>
            <a:ext cx="10361070" cy="372023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По таблице RFM-анализа можно получить дополнительную информацию: </a:t>
            </a:r>
          </a:p>
          <a:p>
            <a:pPr algn="just"/>
            <a:r>
              <a:rPr lang="ru-RU" dirty="0"/>
              <a:t>Активные клиенты </a:t>
            </a:r>
            <a:r>
              <a:rPr lang="en-US" dirty="0"/>
              <a:t>R</a:t>
            </a:r>
            <a:r>
              <a:rPr lang="ru-RU" dirty="0"/>
              <a:t>1 (недавно покупающие) составляют 32,2% от общей массы клиентов за 2023 год, что в целом неплохо. На карточке указана цель – достигнуть показателя в 50%. </a:t>
            </a:r>
          </a:p>
          <a:p>
            <a:pPr algn="just"/>
            <a:r>
              <a:rPr lang="en-US" dirty="0"/>
              <a:t>VIP</a:t>
            </a:r>
            <a:r>
              <a:rPr lang="ru-RU" dirty="0"/>
              <a:t>-клиенты </a:t>
            </a:r>
            <a:r>
              <a:rPr lang="en-US" dirty="0"/>
              <a:t>RFM</a:t>
            </a:r>
            <a:r>
              <a:rPr lang="ru-RU" dirty="0"/>
              <a:t>-111 (недавно и часто покупающие на большие суммы) составляют всего 0,1%, на карточке цель – 3%. </a:t>
            </a:r>
          </a:p>
          <a:p>
            <a:pPr algn="just"/>
            <a:r>
              <a:rPr lang="ru-RU" dirty="0"/>
              <a:t>Потерянные клиенты </a:t>
            </a:r>
            <a:r>
              <a:rPr lang="en-US" dirty="0"/>
              <a:t>RFM-333</a:t>
            </a:r>
            <a:r>
              <a:rPr lang="ru-RU" dirty="0"/>
              <a:t> составляют 15,1%, цель снизить их до 5%.</a:t>
            </a:r>
          </a:p>
          <a:p>
            <a:pPr marL="0" lvl="0" indent="0" algn="just">
              <a:buNone/>
            </a:pPr>
            <a:endParaRPr lang="ru-RU" dirty="0"/>
          </a:p>
          <a:p>
            <a:pPr marL="0" lv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43" y="4296427"/>
            <a:ext cx="3371850" cy="13430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828" y="4636391"/>
            <a:ext cx="3267075" cy="13430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038" y="4967939"/>
            <a:ext cx="32289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518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53044" y="576196"/>
            <a:ext cx="10361070" cy="195406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По таблице RFM-анализа можно получить дополнительную информацию - размер RFM-сегментов за период: всего 23 сегмента, самый массовый сегмент 333 - 130 689 клиентов (15,1% от всех), сегмент </a:t>
            </a:r>
            <a:r>
              <a:rPr lang="en-US" dirty="0"/>
              <a:t>VIP</a:t>
            </a:r>
            <a:r>
              <a:rPr lang="ru-RU" dirty="0"/>
              <a:t> (111) - 826 клиентов (0,1%).</a:t>
            </a:r>
          </a:p>
          <a:p>
            <a:pPr marL="0" indent="0" algn="just">
              <a:buNone/>
            </a:pPr>
            <a:endParaRPr lang="ru-RU" dirty="0"/>
          </a:p>
          <a:p>
            <a:pPr marL="0" lvl="0" indent="0" algn="just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29D6814-7170-46C6-82AF-2547C49CC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500" y="2731598"/>
            <a:ext cx="8903000" cy="286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06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53044" y="137786"/>
            <a:ext cx="10361070" cy="2993721"/>
          </a:xfrm>
        </p:spPr>
        <p:txBody>
          <a:bodyPr>
            <a:normAutofit fontScale="85000" lnSpcReduction="20000"/>
          </a:bodyPr>
          <a:lstStyle/>
          <a:p>
            <a:pPr marL="0" lvl="0" indent="0" algn="just">
              <a:buNone/>
            </a:pPr>
            <a:r>
              <a:rPr lang="ru-RU" dirty="0"/>
              <a:t>По таблице RFM-анализа можно получить дополнительную информацию - деньги в  RFM-сегментах за период: общая выручка за год составляет 1,67 трлн руб. Больше всего денег приносит сегмент 121. Самый высокий средний чек в сегменте 111, самый низкий средний чек в сегменте 333, 8 сегментов дают 89,2% выручки. Сегмент 333 самый большой по числу клиентов, но дает только 2,1% выручки.</a:t>
            </a:r>
          </a:p>
          <a:p>
            <a:pPr marL="0" indent="0" algn="just">
              <a:buNone/>
            </a:pPr>
            <a:r>
              <a:rPr lang="ru-RU" dirty="0"/>
              <a:t>Рекомендуется маркетинговый бюджет вложить в сегменты: 121, 131, 231, 331 (дают 59,5% выручки, здесь самые крупные чеки 3,7–4,8 млн. руб.); 221, 232, 332, 132 (дают 29,7% выручки, чеки ниже 1,3–4,7 млн. руб., но стабильно; 111, 211, 311 - точечная работа, их мало, но чеки высокие 5,7–7,0 млн. руб.</a:t>
            </a:r>
          </a:p>
          <a:p>
            <a:pPr marL="0" indent="0" algn="just">
              <a:buNone/>
            </a:pPr>
            <a:endParaRPr lang="ru-RU" dirty="0"/>
          </a:p>
          <a:p>
            <a:pPr marL="0" lvl="0" indent="0" algn="just">
              <a:buNone/>
            </a:pP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803C333-C47B-4FA6-8335-22E9BA7DE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270" y="3106485"/>
            <a:ext cx="10089460" cy="361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958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53043" y="588722"/>
            <a:ext cx="10361070" cy="4029075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ru-RU" dirty="0"/>
              <a:t>Воронка покупок за период: LTV-воронка показывает, как клиенты совершают повторные покупки (от 1-й до 12-й).</a:t>
            </a:r>
            <a:r>
              <a:rPr lang="ru-RU" b="1" dirty="0"/>
              <a:t> </a:t>
            </a:r>
            <a:r>
              <a:rPr lang="ru-RU" dirty="0"/>
              <a:t>68.7% возвращаются за 2-й покупкой, что говорит о сильном продукте – это очень хороший показатель. Падение между 2 и 3,  3 и 4 покупками самое большое.</a:t>
            </a:r>
            <a:r>
              <a:rPr lang="ru-RU" b="1" dirty="0"/>
              <a:t> </a:t>
            </a:r>
            <a:r>
              <a:rPr lang="ru-RU" dirty="0"/>
              <a:t>Одноразовые (1 покупка) - 31.3%, возвращающиеся (2-4 покупки) - 54.7%, лояльные (5-7 покупок) - 7.0%, супер-лояльные (8+ покупок) - 0.16%.</a:t>
            </a:r>
          </a:p>
          <a:p>
            <a:pPr lvl="0"/>
            <a:endParaRPr lang="ru-RU" dirty="0"/>
          </a:p>
          <a:p>
            <a:pPr marL="0" indent="0" algn="just">
              <a:buNone/>
            </a:pPr>
            <a:endParaRPr lang="ru-RU" dirty="0"/>
          </a:p>
          <a:p>
            <a:pPr marL="0" lvl="0" indent="0" algn="just">
              <a:buNone/>
            </a:pP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490" y="3640768"/>
            <a:ext cx="978217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022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53044" y="137786"/>
            <a:ext cx="10361070" cy="3874000"/>
          </a:xfrm>
        </p:spPr>
        <p:txBody>
          <a:bodyPr>
            <a:normAutofit fontScale="85000" lnSpcReduction="10000"/>
          </a:bodyPr>
          <a:lstStyle/>
          <a:p>
            <a:pPr marL="0" lvl="0" indent="0" algn="just">
              <a:buNone/>
            </a:pPr>
            <a:r>
              <a:rPr lang="ru-RU" dirty="0"/>
              <a:t>Количество покупок и конверсия за период: конверсия шага снижается с 68,73% до 10%.</a:t>
            </a:r>
          </a:p>
          <a:p>
            <a:pPr marL="0" indent="0" algn="just">
              <a:buNone/>
            </a:pPr>
            <a:r>
              <a:rPr lang="ru-RU" dirty="0"/>
              <a:t>Рекомендуется: после 1-й покупки - скидка или бонус на вторую покупку в течение 30 дней,  </a:t>
            </a:r>
            <a:r>
              <a:rPr lang="ru-RU" dirty="0" err="1"/>
              <a:t>Email</a:t>
            </a:r>
            <a:r>
              <a:rPr lang="ru-RU" dirty="0"/>
              <a:t>/SMS-напоминание через 7–14 дней после первой покупки, программа лояльности «Приведи друга», опрос. После 2-й покупки - персональное предложение, накопительная система скидок, автоматическое напоминание «Ваш следующий заказ». После 3-ей покупки эксклюзивные условия, ранний доступ к новинкам, бесплатная доставка на 4-й заказ. Далее VIP-программа для 5+ покупок. Персональный менеджер для 10+ покупок, ежемесячная подписка со скидкой. </a:t>
            </a:r>
          </a:p>
          <a:p>
            <a:pPr marL="0" indent="0" algn="just">
              <a:buNone/>
            </a:pPr>
            <a:r>
              <a:rPr lang="ru-RU" dirty="0"/>
              <a:t>Важно сфокусироваться на удержании клиентов после 1-й и 2-й покупки - здесь теряется больше всего людей. На 8+ покупках ресурсы желательно не тратить.</a:t>
            </a:r>
          </a:p>
          <a:p>
            <a:pPr marL="0" lvl="0" indent="0" algn="just">
              <a:buNone/>
            </a:pP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541" y="4249780"/>
            <a:ext cx="974407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79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53044" y="425885"/>
            <a:ext cx="10361070" cy="3043825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ru-RU" dirty="0" err="1"/>
              <a:t>Monthly</a:t>
            </a:r>
            <a:r>
              <a:rPr lang="ru-RU" dirty="0"/>
              <a:t> </a:t>
            </a:r>
            <a:r>
              <a:rPr lang="ru-RU" dirty="0" err="1"/>
              <a:t>Retention</a:t>
            </a:r>
            <a:r>
              <a:rPr lang="ru-RU" dirty="0"/>
              <a:t> за год: после первого месяца удержание падает с 100% до 14–16%,  с месяца 1 по 12 удержание стабильно держится на уровне 13–17%, удержание не снижается со временем, лучшее удержание у когорты 2023-01 (16,3%), худшее удержание у когорты 2023-02 (13,1%).</a:t>
            </a:r>
          </a:p>
          <a:p>
            <a:pPr marL="0" indent="0" algn="just">
              <a:buNone/>
            </a:pPr>
            <a:r>
              <a:rPr lang="ru-RU" dirty="0"/>
              <a:t>Рекомендации: главная задача - повысить конверсию из первой покупки во вторую (сейчас 15%). </a:t>
            </a:r>
          </a:p>
          <a:p>
            <a:pPr marL="0" lv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304" y="3469710"/>
            <a:ext cx="973455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688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53044" y="425885"/>
            <a:ext cx="10361070" cy="387054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Анализ топ-5 клиентов по сумме продаж: для ознакомления. </a:t>
            </a:r>
          </a:p>
          <a:p>
            <a:pPr marL="0" indent="0" algn="just">
              <a:buNone/>
            </a:pPr>
            <a:r>
              <a:rPr lang="ru-RU" dirty="0"/>
              <a:t>Такие внушительные суммы говорят о наличие крупных корпоративных клиентов, активно покупающих на онлайн-</a:t>
            </a:r>
            <a:r>
              <a:rPr lang="ru-RU" dirty="0" err="1"/>
              <a:t>маркетплейсе</a:t>
            </a:r>
            <a:r>
              <a:rPr lang="ru-RU" dirty="0"/>
              <a:t> в год на сумму около 20 </a:t>
            </a:r>
            <a:r>
              <a:rPr lang="ru-RU" dirty="0" err="1"/>
              <a:t>млн.руб</a:t>
            </a:r>
            <a:r>
              <a:rPr lang="ru-RU" dirty="0"/>
              <a:t>.</a:t>
            </a:r>
          </a:p>
          <a:p>
            <a:pPr marL="0" indent="0" algn="just">
              <a:buNone/>
            </a:pPr>
            <a:r>
              <a:rPr lang="ru-RU" dirty="0"/>
              <a:t>Примечателен тот факт, что в таблицу ТОП-5 попали как активные, так и неактивные, и даже «уходящие клиенты» (150425). Это говорит о том, что каждая группа клиентов достойна своего внимания и инструментов воздействия.</a:t>
            </a:r>
          </a:p>
          <a:p>
            <a:pPr marL="0" lvl="0" indent="0" algn="just">
              <a:buNone/>
            </a:pP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626" y="4051843"/>
            <a:ext cx="354330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623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53252" y="926926"/>
            <a:ext cx="10361070" cy="304382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dirty="0"/>
              <a:t>Ознакомительная информация о состоянии продаж за месяц: количество клиентов за декабрь 2023 года - 167815 человек (что выше на 33,68% по сравнению с предыдущим месяцем), количество заказов за месяц 183624 (что выше на 36,81% по сравнению с предыдущим месяцем). Скорей всего рост связан с новогодними праздниками.</a:t>
            </a:r>
          </a:p>
          <a:p>
            <a:pPr marL="0" lv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071" y="3648466"/>
            <a:ext cx="591502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57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570" y="638827"/>
            <a:ext cx="10361070" cy="2104373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ru-RU" dirty="0"/>
              <a:t>Динамика дневного посещения DAU за 2023 год: если смотреть на график целиком, без детального анализа пиков и провалов, то общий тренд действительно стабильный (нет явного роста или падения, слабый всплеск в сентябре, слабый провал в ноябре).</a:t>
            </a:r>
          </a:p>
          <a:p>
            <a:pPr marL="0" lvl="0" indent="0" algn="just">
              <a:buNone/>
            </a:pP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253" y="2830882"/>
            <a:ext cx="7052154" cy="363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265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570" y="638827"/>
            <a:ext cx="10361070" cy="2104373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ru-RU" dirty="0"/>
              <a:t>Среднее-медиана MAU за 2023 год: медиана (156470) &gt; среднего (153441) (распределение слегка левостороннее, отрицательная асимметрия), есть несколько низких месяцев, которые тянут среднее вниз, но нет явного тренда.</a:t>
            </a:r>
          </a:p>
          <a:p>
            <a:pPr marL="0" lv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985" y="2743200"/>
            <a:ext cx="350520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17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570" y="488515"/>
            <a:ext cx="10361070" cy="3519814"/>
          </a:xfrm>
        </p:spPr>
        <p:txBody>
          <a:bodyPr>
            <a:normAutofit lnSpcReduction="10000"/>
          </a:bodyPr>
          <a:lstStyle/>
          <a:p>
            <a:pPr marL="0" lvl="0" indent="0" algn="just">
              <a:buNone/>
            </a:pPr>
            <a:r>
              <a:rPr lang="ru-RU" dirty="0"/>
              <a:t>Количество клиентов за период: здесь представлено соотношение по гендерному составу. Количество клиентов мужского и женского пола практически одинаково. Общее количество клиентов за 2023 год составило 864460 человек.</a:t>
            </a:r>
          </a:p>
          <a:p>
            <a:pPr marL="0" lvl="0" indent="0" algn="just">
              <a:buNone/>
            </a:pPr>
            <a:r>
              <a:rPr lang="ru-RU" dirty="0"/>
              <a:t>Общая сумма заказов за период: здесь представлено соотношение по гендерному составу. Общая стоимость заказов клиентов мужского и женского пола практически одинакова. Общая стоимость заказов за 2023 год составила 1,7 </a:t>
            </a:r>
            <a:r>
              <a:rPr lang="ru-RU" dirty="0" err="1"/>
              <a:t>трл</a:t>
            </a:r>
            <a:r>
              <a:rPr lang="ru-RU" dirty="0"/>
              <a:t>. руб.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E71E986-78BB-4394-B915-EF3BEB3F2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941" y="4193465"/>
            <a:ext cx="8858250" cy="232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589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570" y="488515"/>
            <a:ext cx="10361070" cy="3519814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ru-RU" dirty="0"/>
              <a:t>Метрики LTV по гендерному признаку: обе аудитории одинаково прибыльны. Однако максимальный  LTV у мужчин (на ~3,2 млн выше). Таких клиентов единицы, на среднюю статистику они не влияют. Нет необходимости разделять маркетинг по полу - оба сегмента одинаково ценны, инвестиции в привлечение мужчин и женщин должны быть равными. Медианный LTV (~1.33 млн) - хороший ориентир для окупаемости CAC.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924" y="3720230"/>
            <a:ext cx="8162794" cy="281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427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570" y="488515"/>
            <a:ext cx="10361070" cy="35198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Однако, разброс LTV очень большой (0 – 21 млн). Т.е. есть сверхценные клиенты, которых нужно удерживать отдельно. Стандартное отклонение почти равно среднему  – высокая неоднородность внутри каждого пола. Имеются нулевые LTV (возможно, возвраты) – если их много, это «мертвые» клиенты, которые тратили бюджет на привлечение впустую.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272" y="3294802"/>
            <a:ext cx="808672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595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{8D5A97D6-C71B-43CD-B712-A70AD6C8B741}TF6d5feb1e-e145-43f1-b745-cb4b54c5ee9733a8a5b4-7ba003f5bf80</Template>
  <TotalTime>285</TotalTime>
  <Words>1707</Words>
  <Application>Microsoft Office PowerPoint</Application>
  <PresentationFormat>Широкоэкранный</PresentationFormat>
  <Paragraphs>90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Arial</vt:lpstr>
      <vt:lpstr>Calibri</vt:lpstr>
      <vt:lpstr>Times New Roman</vt:lpstr>
      <vt:lpstr>Trebuchet MS</vt:lpstr>
      <vt:lpstr>Tw Cen MT</vt:lpstr>
      <vt:lpstr>Контур</vt:lpstr>
      <vt:lpstr>Анализ продаж онлайн-маркетплейса</vt:lpstr>
      <vt:lpstr>Анализ клиентской базы</vt:lpstr>
      <vt:lpstr>RFM-анализ клиентов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продаж онлайн-маркетплейса</dc:title>
  <dc:creator>Максим Михалев</dc:creator>
  <cp:lastModifiedBy>Mihalev Ilya</cp:lastModifiedBy>
  <cp:revision>37</cp:revision>
  <dcterms:created xsi:type="dcterms:W3CDTF">2026-05-02T13:26:51Z</dcterms:created>
  <dcterms:modified xsi:type="dcterms:W3CDTF">2026-05-04T11:22:51Z</dcterms:modified>
</cp:coreProperties>
</file>