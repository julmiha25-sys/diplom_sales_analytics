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1" r:id="rId7"/>
    <p:sldId id="260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9" autoAdjust="0"/>
    <p:restoredTop sz="94660"/>
  </p:normalViewPr>
  <p:slideViewPr>
    <p:cSldViewPr snapToGrid="0">
      <p:cViewPr varScale="1">
        <p:scale>
          <a:sx n="77" d="100"/>
          <a:sy n="77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66474CCB-FAC8-2251-7C09-72612271F4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/>
              <a:t>Анализ продаж онлайн-маркетплейса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="" xmlns:a16="http://schemas.microsoft.com/office/drawing/2014/main" id="{A1A84B73-3502-E438-AC63-F38A4E4DBD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Ассортиментный анализ за 2023 год</a:t>
            </a:r>
          </a:p>
        </p:txBody>
      </p:sp>
    </p:spTree>
    <p:extLst>
      <p:ext uri="{BB962C8B-B14F-4D97-AF65-F5344CB8AC3E}">
        <p14:creationId xmlns:p14="http://schemas.microsoft.com/office/powerpoint/2010/main" val="51122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C792A5A-C2DD-FA6E-B94A-61FEBB0A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0829"/>
            <a:ext cx="9905998" cy="1478570"/>
          </a:xfrm>
        </p:spPr>
        <p:txBody>
          <a:bodyPr/>
          <a:lstStyle/>
          <a:p>
            <a:pPr algn="ctr"/>
            <a:r>
              <a:rPr lang="ru-RU" dirty="0" smtClean="0"/>
              <a:t>АССОРТИМЕНТНЫЙ АНАЛИЗ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5DCFA8C6-8059-6DDE-BBE7-BD9C72B62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49399"/>
            <a:ext cx="9905999" cy="3541714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это </a:t>
            </a:r>
            <a:r>
              <a:rPr lang="ru-RU" dirty="0" smtClean="0"/>
              <a:t>изучение</a:t>
            </a:r>
            <a:r>
              <a:rPr lang="ru-RU" dirty="0"/>
              <a:t> </a:t>
            </a:r>
            <a:r>
              <a:rPr lang="ru-RU" dirty="0" smtClean="0"/>
              <a:t>того, </a:t>
            </a:r>
            <a:r>
              <a:rPr lang="ru-RU" b="1" dirty="0" smtClean="0"/>
              <a:t>какие </a:t>
            </a:r>
            <a:r>
              <a:rPr lang="ru-RU" b="1" dirty="0"/>
              <a:t>товары вы продаёте</a:t>
            </a:r>
            <a:r>
              <a:rPr lang="ru-RU" dirty="0"/>
              <a:t> и как они влияют на выручку, прибыль и лояльность клиентов.</a:t>
            </a:r>
          </a:p>
          <a:p>
            <a:pPr marL="0" indent="0" algn="just">
              <a:buNone/>
            </a:pPr>
            <a:r>
              <a:rPr lang="ru-RU" dirty="0"/>
              <a:t>Если анализ клиентской базы отвечает на вопрос </a:t>
            </a:r>
            <a:r>
              <a:rPr lang="ru-RU" b="1" dirty="0"/>
              <a:t>«кто наши лучшие клиенты»</a:t>
            </a:r>
            <a:r>
              <a:rPr lang="ru-RU" dirty="0"/>
              <a:t>, то ассортиментный анализ отвечает на вопрос </a:t>
            </a:r>
            <a:r>
              <a:rPr lang="ru-RU" b="1" dirty="0"/>
              <a:t>«какие товары приносят деньги, а какие — убытки и зачем они вообще нужны»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6954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C792A5A-C2DD-FA6E-B94A-61FEBB0A3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0829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ABC-XYZ</a:t>
            </a:r>
            <a:r>
              <a:rPr lang="ru-RU" dirty="0"/>
              <a:t> анализ товаров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5DCFA8C6-8059-6DDE-BBE7-BD9C72B62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208087"/>
            <a:ext cx="9905999" cy="3541714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Таблица </a:t>
            </a:r>
            <a:r>
              <a:rPr lang="en-US" dirty="0"/>
              <a:t>ABC-XYZ</a:t>
            </a:r>
            <a:r>
              <a:rPr lang="ru-RU" dirty="0"/>
              <a:t> анализа товаров позволяет посмотреть распределение товаров по категориям и определить: какие товары приносят основную выручку (</a:t>
            </a:r>
            <a:r>
              <a:rPr lang="en-US" dirty="0"/>
              <a:t>A</a:t>
            </a:r>
            <a:r>
              <a:rPr lang="ru-RU" dirty="0"/>
              <a:t>), какие продаются стабильно (</a:t>
            </a:r>
            <a:r>
              <a:rPr lang="en-US" dirty="0"/>
              <a:t>X)</a:t>
            </a:r>
            <a:r>
              <a:rPr lang="ru-RU" dirty="0"/>
              <a:t>, а какие требуют особого контроля </a:t>
            </a:r>
            <a:r>
              <a:rPr lang="en-US" dirty="0"/>
              <a:t>(Z)</a:t>
            </a:r>
            <a:r>
              <a:rPr lang="ru-RU" dirty="0"/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703A771C-9524-697C-6251-B162574C4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274" y="2746374"/>
            <a:ext cx="7413625" cy="363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22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76C961E-28BB-BE52-409B-6DA3AF951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060EA57B-19C5-1FE2-F90F-2974D986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0" y="1181100"/>
            <a:ext cx="9905999" cy="4825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ассортиментной матрице использованы </a:t>
            </a:r>
            <a:r>
              <a:rPr lang="ru-RU" b="1" dirty="0"/>
              <a:t>4 ключевые метрики</a:t>
            </a:r>
            <a:r>
              <a:rPr lang="ru-RU" dirty="0"/>
              <a:t>:</a:t>
            </a:r>
          </a:p>
          <a:p>
            <a:r>
              <a:rPr lang="ru-RU" b="1" dirty="0"/>
              <a:t>Количество </a:t>
            </a:r>
            <a:r>
              <a:rPr lang="ru-RU" dirty="0"/>
              <a:t> (объём продаж в штуках) — </a:t>
            </a:r>
            <a:r>
              <a:rPr lang="en-US" dirty="0"/>
              <a:t>ABC-</a:t>
            </a:r>
            <a:r>
              <a:rPr lang="ru-RU" dirty="0"/>
              <a:t>категория;</a:t>
            </a:r>
          </a:p>
          <a:p>
            <a:r>
              <a:rPr lang="ru-RU" b="1" dirty="0"/>
              <a:t>Выручка </a:t>
            </a:r>
            <a:r>
              <a:rPr lang="ru-RU" dirty="0"/>
              <a:t>(в руб.) —</a:t>
            </a:r>
            <a:r>
              <a:rPr lang="ru-RU" b="1" dirty="0"/>
              <a:t> </a:t>
            </a:r>
            <a:r>
              <a:rPr lang="en-US" dirty="0"/>
              <a:t>ABC-</a:t>
            </a:r>
            <a:r>
              <a:rPr lang="ru-RU" dirty="0"/>
              <a:t>категория;</a:t>
            </a:r>
          </a:p>
          <a:p>
            <a:pPr algn="just"/>
            <a:r>
              <a:rPr lang="ru-RU" b="1" dirty="0"/>
              <a:t>Вклад в скидки </a:t>
            </a:r>
            <a:r>
              <a:rPr lang="ru-RU" dirty="0"/>
              <a:t>(</a:t>
            </a:r>
            <a:r>
              <a:rPr lang="en-US" dirty="0"/>
              <a:t>DPU -</a:t>
            </a:r>
            <a:r>
              <a:rPr lang="ru-RU" dirty="0"/>
              <a:t> скидочная нагрузка на 1 руб. выручки) — </a:t>
            </a:r>
            <a:r>
              <a:rPr lang="en-US" dirty="0"/>
              <a:t>ABC-</a:t>
            </a:r>
            <a:r>
              <a:rPr lang="ru-RU" dirty="0"/>
              <a:t>категория (в исходных данных нет себестоимости, но есть данные о скидке);</a:t>
            </a:r>
          </a:p>
          <a:p>
            <a:pPr algn="just"/>
            <a:r>
              <a:rPr lang="ru-RU" b="1" dirty="0"/>
              <a:t>Стабильность спроса </a:t>
            </a:r>
            <a:r>
              <a:rPr lang="ru-RU" dirty="0"/>
              <a:t> — XYZ-категория по коэффициенту вариации продаж по неделям.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3894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B5211767-7C5F-5788-6E08-553536117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395287"/>
            <a:ext cx="10909300" cy="2970212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/>
              <a:t>Товары категории А по количеству продаются наиболее успешно – 74%, по выручке 54%. Широкий ассортимент приносит деньги, бизнес не зависит от 2–3 товаров. Распределение выручки A/B/C довольно ровное (54/23/22), нет катастрофического перекоса в «сверхдорогие штучные товары». 22.5% выручки приходится на C-товары - это либо дорогие и непопулярные, либо дешевые и редкие позиции. Их нужно анализировать по рентабельности. Возможно, их много, но маржа низкая. A-товары по количеству (74,24%) держать в наличии любой ценой, даже с низкой маржой.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37F1211B-1F27-932E-72EA-F27BCE5C2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98" y="3429000"/>
            <a:ext cx="5792303" cy="297021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="" xmlns:a16="http://schemas.microsoft.com/office/drawing/2014/main" id="{2BE4DFF2-8EE2-EA13-1E5D-54CAC77F7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165" y="3429000"/>
            <a:ext cx="5443737" cy="297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43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68327AD-398E-C717-F7DD-2DEF4DC72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0A7A6DBD-A582-0193-3170-114B06865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3402" y="395286"/>
            <a:ext cx="9905999" cy="4646614"/>
          </a:xfrm>
        </p:spPr>
        <p:txBody>
          <a:bodyPr>
            <a:normAutofit fontScale="85000" lnSpcReduction="20000"/>
          </a:bodyPr>
          <a:lstStyle/>
          <a:p>
            <a:pPr marL="0" lvl="0" indent="0" algn="just">
              <a:buNone/>
            </a:pPr>
            <a:r>
              <a:rPr lang="ru-RU" dirty="0"/>
              <a:t>Скидка системная и очень глубокая - от 44% до 56%. </a:t>
            </a:r>
          </a:p>
          <a:p>
            <a:pPr marL="0" lvl="0" indent="0" algn="just">
              <a:buNone/>
            </a:pPr>
            <a:r>
              <a:rPr lang="ru-RU" dirty="0"/>
              <a:t>Компания недополучила 1.15 трлн руб. выручки из-за скидок за 2023 год. </a:t>
            </a:r>
          </a:p>
          <a:p>
            <a:pPr marL="0" lvl="0" indent="0" algn="just">
              <a:buNone/>
            </a:pPr>
            <a:r>
              <a:rPr lang="ru-RU" dirty="0"/>
              <a:t>Видно два типа групп: кластер А (скидка ~44–46%) - выручка без скидки заметно выше; кластер Б  - скидка ~54–56%. Мелких или средних скидок почти нет. </a:t>
            </a:r>
          </a:p>
          <a:p>
            <a:pPr marL="0" indent="0" algn="just">
              <a:buNone/>
            </a:pPr>
            <a:r>
              <a:rPr lang="ru-RU" dirty="0"/>
              <a:t>Рекомендации: </a:t>
            </a:r>
          </a:p>
          <a:p>
            <a:pPr algn="just"/>
            <a:r>
              <a:rPr lang="ru-RU" dirty="0"/>
              <a:t>проверить рентабельность групп со скидкой &gt;50%, возможно, некоторые сделки убыточны; </a:t>
            </a:r>
          </a:p>
          <a:p>
            <a:pPr algn="just"/>
            <a:r>
              <a:rPr lang="ru-RU" dirty="0"/>
              <a:t>разделить анализ по типам акций; </a:t>
            </a:r>
          </a:p>
          <a:p>
            <a:pPr algn="just"/>
            <a:r>
              <a:rPr lang="ru-RU" dirty="0"/>
              <a:t>оценить эластичность спроса; </a:t>
            </a:r>
          </a:p>
          <a:p>
            <a:pPr algn="just"/>
            <a:r>
              <a:rPr lang="ru-RU" dirty="0"/>
              <a:t>ввести потолок скидки; </a:t>
            </a:r>
          </a:p>
          <a:p>
            <a:pPr algn="just"/>
            <a:r>
              <a:rPr lang="ru-RU" dirty="0"/>
              <a:t>сравнить с конкурентами.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422DA451-800A-2C04-45EC-AB5FC0253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555" y="3754438"/>
            <a:ext cx="6313846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6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F7DD344-D933-A9CE-4045-8F6982671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AC50183A-1E33-39CB-60E5-88DDC52E5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3402" y="395287"/>
            <a:ext cx="9905999" cy="16494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Почти 70% товаров (Y+Z) имеют среднюю или низкую предсказуемость. Это означает высокий риск дефицита или затоваривания, сложности с планированием закупок.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D95AE1FB-165D-4953-56F0-A680E0B06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362" y="2198687"/>
            <a:ext cx="639127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26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D98594E-11EE-AEC4-5601-28A12DEC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745B27DD-4D75-CAAA-240C-5E0239ED7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35928"/>
            <a:ext cx="9905999" cy="3872609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/>
              <a:t>Топ-5 товаров по количеству продаж (по рангу): данные для ознакомления. </a:t>
            </a:r>
          </a:p>
          <a:p>
            <a:pPr marL="0" indent="0" algn="just">
              <a:buNone/>
            </a:pPr>
            <a:r>
              <a:rPr lang="ru-RU" dirty="0"/>
              <a:t>Например, артикул 46596 имеет категорию AZ, здесь необходимо иметь страховой запас товара и искать причины нестабильности спроса. Другие 4 артикула имеют категорию AY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r>
              <a:rPr lang="ru-RU" dirty="0"/>
              <a:t>Анализ топ-5 товаров по сумме продаж: </a:t>
            </a:r>
            <a:r>
              <a:rPr lang="ru-RU" dirty="0" smtClean="0"/>
              <a:t>данные для ознакомления. Сумма </a:t>
            </a:r>
            <a:r>
              <a:rPr lang="ru-RU" dirty="0"/>
              <a:t>продаж этих товаров на сумму </a:t>
            </a:r>
            <a:r>
              <a:rPr lang="ru-RU" dirty="0" smtClean="0"/>
              <a:t>от 120 </a:t>
            </a:r>
            <a:r>
              <a:rPr lang="ru-RU" dirty="0"/>
              <a:t>млн. руб. в год на онлайн </a:t>
            </a:r>
            <a:r>
              <a:rPr lang="ru-RU" dirty="0" err="1" smtClean="0"/>
              <a:t>маркетплейсе</a:t>
            </a:r>
            <a:r>
              <a:rPr lang="ru-RU" dirty="0" smtClean="0"/>
              <a:t> </a:t>
            </a:r>
            <a:r>
              <a:rPr lang="ru-RU" dirty="0"/>
              <a:t>- это между «крупным </a:t>
            </a:r>
            <a:r>
              <a:rPr lang="ru-RU" dirty="0" err="1"/>
              <a:t>нишевым</a:t>
            </a:r>
            <a:r>
              <a:rPr lang="ru-RU" dirty="0"/>
              <a:t>» и «средним» товаром</a:t>
            </a:r>
            <a:r>
              <a:rPr lang="ru-RU" dirty="0" smtClean="0"/>
              <a:t>.</a:t>
            </a:r>
          </a:p>
          <a:p>
            <a:pPr marL="0" indent="0" algn="just">
              <a:buNone/>
            </a:pPr>
            <a:r>
              <a:rPr lang="ru-RU" dirty="0"/>
              <a:t>Например, артикул </a:t>
            </a:r>
            <a:r>
              <a:rPr lang="ru-RU" dirty="0" smtClean="0"/>
              <a:t>30239 </a:t>
            </a:r>
            <a:r>
              <a:rPr lang="ru-RU" dirty="0"/>
              <a:t>имеет категорию AZ, здесь необходимо иметь страховой запас товара и искать причины нестабильности спроса. Другие 4 артикула имеют категорию </a:t>
            </a:r>
            <a:r>
              <a:rPr lang="ru-RU" dirty="0" smtClean="0"/>
              <a:t>AХ.</a:t>
            </a: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9FD47A18-9F93-A759-9896-4A506140F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785" y="4248237"/>
            <a:ext cx="3590925" cy="24003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560" y="4248237"/>
            <a:ext cx="305752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745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2F6AC63-15E4-4D44-904F-EA132D45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E9DAF347-918B-2FC2-8B9F-75200721C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649287"/>
            <a:ext cx="9905999" cy="1649413"/>
          </a:xfrm>
        </p:spPr>
        <p:txBody>
          <a:bodyPr>
            <a:normAutofit fontScale="85000" lnSpcReduction="10000"/>
          </a:bodyPr>
          <a:lstStyle/>
          <a:p>
            <a:pPr marL="0" lvl="0" indent="0" algn="just">
              <a:buNone/>
            </a:pPr>
            <a:r>
              <a:rPr lang="ru-RU" dirty="0"/>
              <a:t>Топ-3 (по рангу) </a:t>
            </a:r>
            <a:r>
              <a:rPr lang="ru-RU" dirty="0" smtClean="0"/>
              <a:t>товаров-отказников</a:t>
            </a:r>
            <a:r>
              <a:rPr lang="ru-RU" dirty="0"/>
              <a:t>:  за 2023 год было от 4-х до 6-и отмен заказов по данным артикулам (в выгрузке из </a:t>
            </a:r>
            <a:r>
              <a:rPr lang="en-US" dirty="0"/>
              <a:t>API</a:t>
            </a:r>
            <a:r>
              <a:rPr lang="ru-RU" dirty="0"/>
              <a:t> отсутствует количество и стоимость заказа, подразумевается, что это - возврат). Информация для дополнительного анализа ассортиментной </a:t>
            </a:r>
            <a:r>
              <a:rPr lang="ru-RU" dirty="0" smtClean="0"/>
              <a:t>матрицы</a:t>
            </a:r>
            <a:r>
              <a:rPr lang="ru-RU" dirty="0"/>
              <a:t> </a:t>
            </a:r>
            <a:r>
              <a:rPr lang="ru-RU" dirty="0" smtClean="0"/>
              <a:t>– почему именно от этих товаров были отказы.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6E71F542-8B22-C47A-A96C-1287A4550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812" y="2624137"/>
            <a:ext cx="39147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39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64F5CFC-0098-8213-3E7B-51652F332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ADB88EFC-99D8-B64F-AA43-B327D6F0C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649287"/>
            <a:ext cx="9905999" cy="2779713"/>
          </a:xfrm>
        </p:spPr>
        <p:txBody>
          <a:bodyPr>
            <a:normAutofit lnSpcReduction="10000"/>
          </a:bodyPr>
          <a:lstStyle/>
          <a:p>
            <a:pPr marL="0" lvl="0" indent="0" algn="just">
              <a:buNone/>
            </a:pPr>
            <a:r>
              <a:rPr lang="ru-RU" dirty="0"/>
              <a:t>Акция-подарок-замена товара (в выгрузке из </a:t>
            </a:r>
            <a:r>
              <a:rPr lang="en-US" dirty="0"/>
              <a:t>API</a:t>
            </a:r>
            <a:r>
              <a:rPr lang="ru-RU" dirty="0"/>
              <a:t> имеются данные, содержащие количество товара и нулевую стоимость заказа, </a:t>
            </a:r>
            <a:r>
              <a:rPr lang="ru-RU" dirty="0" smtClean="0"/>
              <a:t>подразумевается, </a:t>
            </a:r>
            <a:r>
              <a:rPr lang="ru-RU" dirty="0"/>
              <a:t>что это товар, попавший под акцию, подарок, замену): количество таких товаров </a:t>
            </a:r>
            <a:r>
              <a:rPr lang="ru-RU" dirty="0" smtClean="0"/>
              <a:t>8142, </a:t>
            </a:r>
            <a:r>
              <a:rPr lang="ru-RU" dirty="0"/>
              <a:t>общая упущенная выручка </a:t>
            </a:r>
            <a:r>
              <a:rPr lang="ru-RU" dirty="0" smtClean="0"/>
              <a:t>68,2 </a:t>
            </a:r>
            <a:r>
              <a:rPr lang="ru-RU" dirty="0"/>
              <a:t>млн. руб., средняя упущенная выручка на 1 товар </a:t>
            </a:r>
            <a:r>
              <a:rPr lang="ru-RU" dirty="0" smtClean="0"/>
              <a:t>8380 </a:t>
            </a:r>
            <a:r>
              <a:rPr lang="ru-RU" dirty="0"/>
              <a:t>руб. </a:t>
            </a:r>
          </a:p>
          <a:p>
            <a:pPr marL="0" indent="0" algn="just">
              <a:buNone/>
            </a:pPr>
            <a:r>
              <a:rPr lang="ru-RU" dirty="0"/>
              <a:t>Рекомендации: ввести ограничения по стоимости товара по акции.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="" xmlns:a16="http://schemas.microsoft.com/office/drawing/2014/main" id="{E7E45C83-92B1-7D5A-032A-737CAF571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4" y="3594100"/>
            <a:ext cx="987742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1701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{8D5A97D6-C71B-43CD-B712-A70AD6C8B741}TF6d5feb1e-e145-43f1-b745-cb4b54c5ee9733a8a5b4-7ba003f5bf80</Template>
  <TotalTime>156</TotalTime>
  <Words>341</Words>
  <Application>Microsoft Office PowerPoint</Application>
  <PresentationFormat>Широкоэкранный</PresentationFormat>
  <Paragraphs>30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Tw Cen MT</vt:lpstr>
      <vt:lpstr>Контур</vt:lpstr>
      <vt:lpstr>Анализ продаж онлайн-маркетплейса</vt:lpstr>
      <vt:lpstr>АССОРТИМЕНТНЫЙ АНАЛИЗ</vt:lpstr>
      <vt:lpstr>ABC-XYZ анализ товаров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продаж онлайн-маркетплейса</dc:title>
  <dc:creator>Максим Михалев</dc:creator>
  <cp:lastModifiedBy>Лапушка</cp:lastModifiedBy>
  <cp:revision>16</cp:revision>
  <dcterms:created xsi:type="dcterms:W3CDTF">2026-05-02T13:26:51Z</dcterms:created>
  <dcterms:modified xsi:type="dcterms:W3CDTF">2026-05-03T14:55:48Z</dcterms:modified>
</cp:coreProperties>
</file>